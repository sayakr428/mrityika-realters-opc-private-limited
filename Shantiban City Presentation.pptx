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1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3520678" y="1139279"/>
            <a:ext cx="5150643" cy="1885950"/>
          </a:xfrm>
          <a:prstGeom prst="rect">
            <a:avLst/>
          </a:prstGeom>
          <a:noFill/>
        </p:spPr>
        <p:txBody>
          <a:bodyPr wrap="square" lIns="0" tIns="0" rIns="0" bIns="0" anchor="t">
            <a:spAutoFit/>
          </a:bodyPr>
          <a:lstStyle/>
          <a:p>
            <a:pPr algn="ctr">
              <a:lnSpc>
                <a:spcPts val="7425"/>
              </a:lnSpc>
            </a:pPr>
            <a:r>
              <a:rPr sz="6750" b="0" i="0" u="none">
                <a:solidFill>
                  <a:srgbClr val="FDFBF7"/>
                </a:solidFill>
                <a:latin typeface="Playfair Display"/>
              </a:rPr>
              <a:t>SHANTIBAN</a:t>
            </a:r>
            <a:r>
              <a:t>
</a:t>
            </a:r>
            <a:r>
              <a:rPr sz="6750" b="0" i="0" u="none">
                <a:solidFill>
                  <a:srgbClr val="FDFBF7"/>
                </a:solidFill>
                <a:latin typeface="Playfair Display"/>
              </a:rPr>
              <a:t> CITY</a:t>
            </a:r>
          </a:p>
        </p:txBody>
      </p:sp>
      <p:sp>
        <p:nvSpPr>
          <p:cNvPr id="4" name="TextBox 3"/>
          <p:cNvSpPr txBox="1"/>
          <p:nvPr/>
        </p:nvSpPr>
        <p:spPr>
          <a:xfrm>
            <a:off x="3609975" y="3406229"/>
            <a:ext cx="4972050" cy="487560"/>
          </a:xfrm>
          <a:prstGeom prst="rect">
            <a:avLst/>
          </a:prstGeom>
          <a:noFill/>
        </p:spPr>
        <p:txBody>
          <a:bodyPr wrap="square" lIns="0" tIns="0" rIns="0" bIns="0" anchor="t">
            <a:spAutoFit/>
          </a:bodyPr>
          <a:lstStyle/>
          <a:p>
            <a:pPr algn="ctr">
              <a:lnSpc>
                <a:spcPts val="3840"/>
              </a:lnSpc>
            </a:pPr>
            <a:r>
              <a:rPr sz="2400" b="0" i="0" u="none">
                <a:solidFill>
                  <a:srgbClr val="FDFBF7"/>
                </a:solidFill>
                <a:latin typeface="Playfair Display Light"/>
              </a:rPr>
              <a:t>A Place to Own. A Place to Belong.</a:t>
            </a:r>
          </a:p>
        </p:txBody>
      </p:sp>
      <p:sp>
        <p:nvSpPr>
          <p:cNvPr id="5" name="Rectangle 4"/>
          <p:cNvSpPr/>
          <p:nvPr/>
        </p:nvSpPr>
        <p:spPr>
          <a:xfrm>
            <a:off x="5715000" y="4465290"/>
            <a:ext cx="762000" cy="1905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80698" y="4960590"/>
            <a:ext cx="4830603" cy="228600"/>
          </a:xfrm>
          <a:prstGeom prst="rect">
            <a:avLst/>
          </a:prstGeom>
          <a:noFill/>
        </p:spPr>
        <p:txBody>
          <a:bodyPr wrap="square" lIns="0" tIns="0" rIns="0" bIns="0" anchor="t">
            <a:spAutoFit/>
          </a:bodyPr>
          <a:lstStyle/>
          <a:p>
            <a:pPr algn="ctr"/>
            <a:r>
              <a:rPr sz="1500" b="0" i="0" u="none">
                <a:solidFill>
                  <a:srgbClr val="C5A059"/>
                </a:solidFill>
                <a:latin typeface="Lato"/>
              </a:rPr>
              <a:t>MRITYIKA REALTERS OPC PRIVATE LIMITED</a:t>
            </a:r>
          </a:p>
        </p:txBody>
      </p:sp>
      <p:sp>
        <p:nvSpPr>
          <p:cNvPr id="7" name="TextBox 6"/>
          <p:cNvSpPr txBox="1"/>
          <p:nvPr/>
        </p:nvSpPr>
        <p:spPr>
          <a:xfrm>
            <a:off x="3619500" y="5332065"/>
            <a:ext cx="4953000" cy="243780"/>
          </a:xfrm>
          <a:prstGeom prst="rect">
            <a:avLst/>
          </a:prstGeom>
          <a:noFill/>
        </p:spPr>
        <p:txBody>
          <a:bodyPr wrap="square" lIns="0" tIns="0" rIns="0" bIns="0" anchor="t">
            <a:spAutoFit/>
          </a:bodyPr>
          <a:lstStyle/>
          <a:p>
            <a:pPr algn="ctr">
              <a:lnSpc>
                <a:spcPts val="1920"/>
              </a:lnSpc>
            </a:pPr>
            <a:r>
              <a:rPr sz="1200" b="0" i="0" u="none">
                <a:solidFill>
                  <a:srgbClr val="FDFBF7"/>
                </a:solidFill>
                <a:latin typeface="Lato Light"/>
              </a:rPr>
              <a:t>TAPNA, BARUIPUR | SOUTH 24 PARGANAS | WEST BENGAL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TextBox 1"/>
          <p:cNvSpPr txBox="1"/>
          <p:nvPr/>
        </p:nvSpPr>
        <p:spPr>
          <a:xfrm>
            <a:off x="762000" y="762000"/>
            <a:ext cx="5300662" cy="1782812"/>
          </a:xfrm>
          <a:prstGeom prst="rect">
            <a:avLst/>
          </a:prstGeom>
          <a:noFill/>
        </p:spPr>
        <p:txBody>
          <a:bodyPr wrap="square" lIns="0" tIns="0" rIns="0" bIns="0" anchor="t">
            <a:spAutoFit/>
          </a:bodyPr>
          <a:lstStyle/>
          <a:p>
            <a:pPr algn="l">
              <a:lnSpc>
                <a:spcPts val="4680"/>
              </a:lnSpc>
            </a:pPr>
            <a:r>
              <a:rPr sz="3900" b="0" i="0" u="none">
                <a:solidFill>
                  <a:srgbClr val="12301C"/>
                </a:solidFill>
                <a:latin typeface="Playfair Display"/>
              </a:rPr>
              <a:t>Your own piece of earth.</a:t>
            </a:r>
            <a:r>
              <a:t>
</a:t>
            </a:r>
            <a:r>
              <a:rPr sz="3900" b="0" i="0" u="none">
                <a:solidFill>
                  <a:srgbClr val="C5A059"/>
                </a:solidFill>
                <a:latin typeface="Playfair Display"/>
              </a:rPr>
              <a:t>Your own story.</a:t>
            </a:r>
          </a:p>
        </p:txBody>
      </p:sp>
      <p:sp>
        <p:nvSpPr>
          <p:cNvPr id="4" name="TextBox 3"/>
          <p:cNvSpPr txBox="1"/>
          <p:nvPr/>
        </p:nvSpPr>
        <p:spPr>
          <a:xfrm>
            <a:off x="762000" y="3061245"/>
            <a:ext cx="5048250" cy="609600"/>
          </a:xfrm>
          <a:prstGeom prst="rect">
            <a:avLst/>
          </a:prstGeom>
          <a:noFill/>
        </p:spPr>
        <p:txBody>
          <a:bodyPr wrap="square" lIns="0" tIns="0" rIns="0" bIns="0" anchor="t">
            <a:spAutoFit/>
          </a:bodyPr>
          <a:lstStyle/>
          <a:p>
            <a:pPr algn="l">
              <a:lnSpc>
                <a:spcPts val="2400"/>
              </a:lnSpc>
            </a:pPr>
            <a:r>
              <a:rPr sz="1500" b="0" i="0" u="none" dirty="0">
                <a:solidFill>
                  <a:srgbClr val="12301C"/>
                </a:solidFill>
                <a:latin typeface="Lato Light"/>
              </a:rPr>
              <a:t>People dream of having a home that perfectly reflects their personality, their comfort, their lifestyle, and their aspirations.</a:t>
            </a:r>
          </a:p>
        </p:txBody>
      </p:sp>
      <p:sp>
        <p:nvSpPr>
          <p:cNvPr id="5" name="TextBox 4"/>
          <p:cNvSpPr txBox="1"/>
          <p:nvPr/>
        </p:nvSpPr>
        <p:spPr>
          <a:xfrm>
            <a:off x="762000" y="3813720"/>
            <a:ext cx="5048250"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Shantiban City gives families the rare opportunity to first own their own piece of land, and eventually build a home defined entirely by their own choices.</a:t>
            </a:r>
          </a:p>
        </p:txBody>
      </p:sp>
      <p:sp>
        <p:nvSpPr>
          <p:cNvPr id="6" name="Rectangle 5"/>
          <p:cNvSpPr/>
          <p:nvPr/>
        </p:nvSpPr>
        <p:spPr>
          <a:xfrm>
            <a:off x="762000" y="5156745"/>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2000" y="5452020"/>
            <a:ext cx="5048250" cy="365670"/>
          </a:xfrm>
          <a:prstGeom prst="rect">
            <a:avLst/>
          </a:prstGeom>
          <a:noFill/>
        </p:spPr>
        <p:txBody>
          <a:bodyPr wrap="square" lIns="0" tIns="0" rIns="0" bIns="0" anchor="t">
            <a:spAutoFit/>
          </a:bodyPr>
          <a:lstStyle/>
          <a:p>
            <a:pPr algn="l">
              <a:lnSpc>
                <a:spcPts val="2879"/>
              </a:lnSpc>
            </a:pPr>
            <a:r>
              <a:rPr sz="1800" b="0" i="0" u="none">
                <a:solidFill>
                  <a:srgbClr val="12301C"/>
                </a:solidFill>
                <a:latin typeface="Playfair Display Light"/>
              </a:rPr>
              <a:t>Ownership. Freedom. Family. Nature. Peace.</a:t>
            </a:r>
          </a:p>
        </p:txBody>
      </p:sp>
      <p:pic>
        <p:nvPicPr>
          <p:cNvPr id="9" name="Picture 8">
            <a:extLst>
              <a:ext uri="{FF2B5EF4-FFF2-40B4-BE49-F238E27FC236}">
                <a16:creationId xmlns:a16="http://schemas.microsoft.com/office/drawing/2014/main" id="{CB37D205-7555-176D-F2A6-2FD6BC696DBE}"/>
              </a:ext>
            </a:extLst>
          </p:cNvPr>
          <p:cNvPicPr>
            <a:picLocks noChangeAspect="1"/>
          </p:cNvPicPr>
          <p:nvPr/>
        </p:nvPicPr>
        <p:blipFill>
          <a:blip r:embed="rId2"/>
          <a:stretch>
            <a:fillRect/>
          </a:stretch>
        </p:blipFill>
        <p:spPr>
          <a:xfrm>
            <a:off x="6703643" y="0"/>
            <a:ext cx="5488357"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2D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5810250" cy="6858000"/>
          </a:xfrm>
          <a:prstGeom prst="rect">
            <a:avLst/>
          </a:prstGeom>
        </p:spPr>
      </p:pic>
      <p:sp>
        <p:nvSpPr>
          <p:cNvPr id="3" name="TextBox 2"/>
          <p:cNvSpPr txBox="1"/>
          <p:nvPr/>
        </p:nvSpPr>
        <p:spPr>
          <a:xfrm>
            <a:off x="6953250" y="-141833"/>
            <a:ext cx="4700587" cy="1188541"/>
          </a:xfrm>
          <a:prstGeom prst="rect">
            <a:avLst/>
          </a:prstGeom>
          <a:noFill/>
        </p:spPr>
        <p:txBody>
          <a:bodyPr wrap="square" lIns="0" tIns="0" rIns="0" bIns="0" anchor="t">
            <a:spAutoFit/>
          </a:bodyPr>
          <a:lstStyle/>
          <a:p>
            <a:pPr algn="l">
              <a:lnSpc>
                <a:spcPts val="4680"/>
              </a:lnSpc>
            </a:pPr>
            <a:r>
              <a:rPr sz="3900" b="0" i="0" u="none">
                <a:solidFill>
                  <a:srgbClr val="12301C"/>
                </a:solidFill>
                <a:latin typeface="Playfair Display"/>
              </a:rPr>
              <a:t>About</a:t>
            </a:r>
            <a:r>
              <a:t>
</a:t>
            </a:r>
            <a:r>
              <a:rPr sz="3900" b="0" i="0" u="none">
                <a:solidFill>
                  <a:srgbClr val="C5A059"/>
                </a:solidFill>
                <a:latin typeface="Playfair Display"/>
              </a:rPr>
              <a:t>Shantiban City</a:t>
            </a:r>
          </a:p>
        </p:txBody>
      </p:sp>
      <p:sp>
        <p:nvSpPr>
          <p:cNvPr id="4" name="TextBox 3"/>
          <p:cNvSpPr txBox="1"/>
          <p:nvPr/>
        </p:nvSpPr>
        <p:spPr>
          <a:xfrm>
            <a:off x="6953250" y="1427708"/>
            <a:ext cx="4476750" cy="15240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Shantiban City is envisioned as a peaceful, developing residential plot community. It is a carefully curated environment where families can secure their land today and create homes according to their long-term needs tomorrow.</a:t>
            </a:r>
          </a:p>
        </p:txBody>
      </p:sp>
      <p:sp>
        <p:nvSpPr>
          <p:cNvPr id="5" name="Rectangle 4"/>
          <p:cNvSpPr/>
          <p:nvPr/>
        </p:nvSpPr>
        <p:spPr>
          <a:xfrm>
            <a:off x="6953250" y="3380333"/>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91375" y="3866108"/>
            <a:ext cx="4238625" cy="3143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Project:</a:t>
            </a:r>
            <a:r>
              <a:rPr sz="1500" b="0" i="0" u="none">
                <a:solidFill>
                  <a:srgbClr val="12301C"/>
                </a:solidFill>
                <a:latin typeface="Lato Light"/>
              </a:rPr>
              <a:t> Shantiban City</a:t>
            </a:r>
          </a:p>
        </p:txBody>
      </p:sp>
      <p:sp>
        <p:nvSpPr>
          <p:cNvPr id="7" name="TextBox 6"/>
          <p:cNvSpPr txBox="1"/>
          <p:nvPr/>
        </p:nvSpPr>
        <p:spPr>
          <a:xfrm>
            <a:off x="7191375" y="4370933"/>
            <a:ext cx="4238625" cy="6191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Developer:</a:t>
            </a:r>
            <a:r>
              <a:rPr sz="1500" b="0" i="0" u="none">
                <a:solidFill>
                  <a:srgbClr val="12301C"/>
                </a:solidFill>
                <a:latin typeface="Lato Light"/>
              </a:rPr>
              <a:t> MRITYIKA REALTERS OPC PRIVATE LIMITED</a:t>
            </a:r>
          </a:p>
        </p:txBody>
      </p:sp>
      <p:sp>
        <p:nvSpPr>
          <p:cNvPr id="8" name="TextBox 7"/>
          <p:cNvSpPr txBox="1"/>
          <p:nvPr/>
        </p:nvSpPr>
        <p:spPr>
          <a:xfrm>
            <a:off x="7191375" y="5180558"/>
            <a:ext cx="4238625" cy="3143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Area:</a:t>
            </a:r>
            <a:r>
              <a:rPr sz="1500" b="0" i="0" u="none">
                <a:solidFill>
                  <a:srgbClr val="12301C"/>
                </a:solidFill>
                <a:latin typeface="Lato Light"/>
              </a:rPr>
              <a:t> Tapna</a:t>
            </a:r>
          </a:p>
        </p:txBody>
      </p:sp>
      <p:sp>
        <p:nvSpPr>
          <p:cNvPr id="9" name="TextBox 8"/>
          <p:cNvSpPr txBox="1"/>
          <p:nvPr/>
        </p:nvSpPr>
        <p:spPr>
          <a:xfrm>
            <a:off x="7191375" y="5685383"/>
            <a:ext cx="4238625" cy="6191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Location:</a:t>
            </a:r>
            <a:r>
              <a:rPr sz="1500" b="0" i="0" u="none">
                <a:solidFill>
                  <a:srgbClr val="12301C"/>
                </a:solidFill>
                <a:latin typeface="Lato Light"/>
              </a:rPr>
              <a:t> Baruipur, South 24 Parganas, West Bengal</a:t>
            </a:r>
          </a:p>
        </p:txBody>
      </p:sp>
      <p:sp>
        <p:nvSpPr>
          <p:cNvPr id="10" name="TextBox 9"/>
          <p:cNvSpPr txBox="1"/>
          <p:nvPr/>
        </p:nvSpPr>
        <p:spPr>
          <a:xfrm>
            <a:off x="7191375" y="6495008"/>
            <a:ext cx="4238625" cy="3143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Distance:</a:t>
            </a:r>
            <a:r>
              <a:rPr sz="1500" b="0" i="0" u="none">
                <a:solidFill>
                  <a:srgbClr val="12301C"/>
                </a:solidFill>
                <a:latin typeface="Lato Light"/>
              </a:rPr>
              <a:t> Approximately 20 km from Kolkata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333500" y="1654522"/>
            <a:ext cx="9525000" cy="4572000"/>
          </a:xfrm>
          <a:prstGeom prst="rect">
            <a:avLst/>
          </a:prstGeom>
        </p:spPr>
      </p:pic>
      <p:sp>
        <p:nvSpPr>
          <p:cNvPr id="3" name="TextBox 2"/>
          <p:cNvSpPr txBox="1"/>
          <p:nvPr/>
        </p:nvSpPr>
        <p:spPr>
          <a:xfrm>
            <a:off x="4933950" y="6417022"/>
            <a:ext cx="2324100" cy="213270"/>
          </a:xfrm>
          <a:prstGeom prst="rect">
            <a:avLst/>
          </a:prstGeom>
          <a:noFill/>
        </p:spPr>
        <p:txBody>
          <a:bodyPr wrap="square" lIns="0" tIns="0" rIns="0" bIns="0" anchor="t">
            <a:spAutoFit/>
          </a:bodyPr>
          <a:lstStyle/>
          <a:p>
            <a:pPr algn="l">
              <a:lnSpc>
                <a:spcPts val="1679"/>
              </a:lnSpc>
            </a:pPr>
            <a:r>
              <a:rPr sz="1050" b="0" i="0" u="none">
                <a:solidFill>
                  <a:srgbClr val="666666"/>
                </a:solidFill>
                <a:latin typeface="Lato Light"/>
              </a:rPr>
              <a:t>INDICATIVE MAP / NOT TO SCALE</a:t>
            </a:r>
          </a:p>
        </p:txBody>
      </p:sp>
      <p:pic>
        <p:nvPicPr>
          <p:cNvPr id="4" name="Picture 3" descr="image.png"/>
          <p:cNvPicPr>
            <a:picLocks noChangeAspect="1"/>
          </p:cNvPicPr>
          <p:nvPr/>
        </p:nvPicPr>
        <p:blipFill>
          <a:blip r:embed="rId3"/>
          <a:stretch>
            <a:fillRect/>
          </a:stretch>
        </p:blipFill>
        <p:spPr>
          <a:xfrm>
            <a:off x="1390650" y="1711672"/>
            <a:ext cx="2295525" cy="180975"/>
          </a:xfrm>
          <a:prstGeom prst="rect">
            <a:avLst/>
          </a:prstGeom>
        </p:spPr>
      </p:pic>
      <p:sp>
        <p:nvSpPr>
          <p:cNvPr id="5" name="TextBox 4"/>
          <p:cNvSpPr txBox="1"/>
          <p:nvPr/>
        </p:nvSpPr>
        <p:spPr>
          <a:xfrm>
            <a:off x="295275" y="84980"/>
            <a:ext cx="11601450" cy="1188541"/>
          </a:xfrm>
          <a:prstGeom prst="rect">
            <a:avLst/>
          </a:prstGeom>
          <a:noFill/>
        </p:spPr>
        <p:txBody>
          <a:bodyPr wrap="square" lIns="0" tIns="0" rIns="0" bIns="0" anchor="t">
            <a:spAutoFit/>
          </a:bodyPr>
          <a:lstStyle/>
          <a:p>
            <a:pPr algn="ctr">
              <a:lnSpc>
                <a:spcPts val="4680"/>
              </a:lnSpc>
            </a:pPr>
            <a:r>
              <a:rPr sz="3900" b="0" i="0" u="none">
                <a:solidFill>
                  <a:srgbClr val="12301C"/>
                </a:solidFill>
                <a:latin typeface="Playfair Display"/>
              </a:rPr>
              <a:t>Close to what matters.</a:t>
            </a:r>
            <a:r>
              <a:t>
</a:t>
            </a:r>
            <a:r>
              <a:rPr sz="3900" b="0" i="0" u="none">
                <a:solidFill>
                  <a:srgbClr val="C5A059"/>
                </a:solidFill>
                <a:latin typeface="Playfair Display"/>
              </a:rPr>
              <a:t>Away from the chaos.</a:t>
            </a:r>
          </a:p>
        </p:txBody>
      </p:sp>
      <p:pic>
        <p:nvPicPr>
          <p:cNvPr id="7" name="Picture 6">
            <a:extLst>
              <a:ext uri="{FF2B5EF4-FFF2-40B4-BE49-F238E27FC236}">
                <a16:creationId xmlns:a16="http://schemas.microsoft.com/office/drawing/2014/main" id="{301C2B15-FB81-B877-802E-3BD655A59F9B}"/>
              </a:ext>
            </a:extLst>
          </p:cNvPr>
          <p:cNvPicPr>
            <a:picLocks noChangeAspect="1"/>
          </p:cNvPicPr>
          <p:nvPr/>
        </p:nvPicPr>
        <p:blipFill>
          <a:blip r:embed="rId4"/>
          <a:stretch>
            <a:fillRect/>
          </a:stretch>
        </p:blipFill>
        <p:spPr>
          <a:xfrm>
            <a:off x="1333500" y="1273521"/>
            <a:ext cx="9692640" cy="54521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301C"/>
        </a:solidFill>
        <a:effectLst/>
      </p:bgPr>
    </p:bg>
    <p:spTree>
      <p:nvGrpSpPr>
        <p:cNvPr id="1" name=""/>
        <p:cNvGrpSpPr/>
        <p:nvPr/>
      </p:nvGrpSpPr>
      <p:grpSpPr>
        <a:xfrm>
          <a:off x="0" y="0"/>
          <a:ext cx="0" cy="0"/>
          <a:chOff x="0" y="0"/>
          <a:chExt cx="0" cy="0"/>
        </a:xfrm>
      </p:grpSpPr>
      <p:sp>
        <p:nvSpPr>
          <p:cNvPr id="2" name="TextBox 1"/>
          <p:cNvSpPr txBox="1"/>
          <p:nvPr/>
        </p:nvSpPr>
        <p:spPr>
          <a:xfrm>
            <a:off x="1333500" y="5786437"/>
            <a:ext cx="9525000" cy="213270"/>
          </a:xfrm>
          <a:prstGeom prst="rect">
            <a:avLst/>
          </a:prstGeom>
          <a:noFill/>
        </p:spPr>
        <p:txBody>
          <a:bodyPr wrap="square" lIns="0" tIns="0" rIns="0" bIns="0" anchor="t">
            <a:spAutoFit/>
          </a:bodyPr>
          <a:lstStyle/>
          <a:p>
            <a:pPr algn="ctr">
              <a:lnSpc>
                <a:spcPts val="1679"/>
              </a:lnSpc>
            </a:pPr>
            <a:r>
              <a:rPr sz="1050" b="0" i="0" u="none">
                <a:solidFill>
                  <a:srgbClr val="FDFBF7"/>
                </a:solidFill>
                <a:latin typeface="Lato Light"/>
              </a:rPr>
              <a:t>*All distances mentioned are approximate.</a:t>
            </a:r>
          </a:p>
        </p:txBody>
      </p:sp>
      <p:sp>
        <p:nvSpPr>
          <p:cNvPr id="3" name="TextBox 2"/>
          <p:cNvSpPr txBox="1"/>
          <p:nvPr/>
        </p:nvSpPr>
        <p:spPr>
          <a:xfrm>
            <a:off x="1333500" y="16906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Nearest Market </a:t>
            </a:r>
            <a:r>
              <a:rPr sz="1200" b="0" i="0" u="none">
                <a:solidFill>
                  <a:srgbClr val="C5A059"/>
                </a:solidFill>
                <a:latin typeface="Lato Medium"/>
              </a:rPr>
              <a:t>~ 500 m</a:t>
            </a:r>
          </a:p>
        </p:txBody>
      </p:sp>
      <p:sp>
        <p:nvSpPr>
          <p:cNvPr id="4" name="Rectangle 3"/>
          <p:cNvSpPr/>
          <p:nvPr/>
        </p:nvSpPr>
        <p:spPr>
          <a:xfrm>
            <a:off x="1333500" y="21955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77000" y="16906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Nearest School </a:t>
            </a:r>
            <a:r>
              <a:rPr sz="1200" b="0" i="0" u="none">
                <a:solidFill>
                  <a:srgbClr val="C5A059"/>
                </a:solidFill>
                <a:latin typeface="Lato Medium"/>
              </a:rPr>
              <a:t>~ 1.5 km</a:t>
            </a:r>
          </a:p>
        </p:txBody>
      </p:sp>
      <p:sp>
        <p:nvSpPr>
          <p:cNvPr id="6" name="Rectangle 5"/>
          <p:cNvSpPr/>
          <p:nvPr/>
        </p:nvSpPr>
        <p:spPr>
          <a:xfrm>
            <a:off x="6477000" y="21955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33500" y="24907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Koyal More </a:t>
            </a:r>
            <a:r>
              <a:rPr sz="1200" b="0" i="0" u="none">
                <a:solidFill>
                  <a:srgbClr val="C5A059"/>
                </a:solidFill>
                <a:latin typeface="Lato Medium"/>
              </a:rPr>
              <a:t>~ 1.5 km</a:t>
            </a:r>
          </a:p>
        </p:txBody>
      </p:sp>
      <p:sp>
        <p:nvSpPr>
          <p:cNvPr id="8" name="Rectangle 7"/>
          <p:cNvSpPr/>
          <p:nvPr/>
        </p:nvSpPr>
        <p:spPr>
          <a:xfrm>
            <a:off x="1333500" y="29956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7000" y="24907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Nearest Bus Terminus </a:t>
            </a:r>
            <a:r>
              <a:rPr sz="1200" b="0" i="0" u="none">
                <a:solidFill>
                  <a:srgbClr val="C5A059"/>
                </a:solidFill>
                <a:latin typeface="Lato Medium"/>
              </a:rPr>
              <a:t>~ 1.5 km</a:t>
            </a:r>
          </a:p>
        </p:txBody>
      </p:sp>
      <p:sp>
        <p:nvSpPr>
          <p:cNvPr id="10" name="Rectangle 9"/>
          <p:cNvSpPr/>
          <p:nvPr/>
        </p:nvSpPr>
        <p:spPr>
          <a:xfrm>
            <a:off x="6477000" y="29956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33500" y="32908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Nearest Hospital </a:t>
            </a:r>
            <a:r>
              <a:rPr sz="1200" b="0" i="0" u="none">
                <a:solidFill>
                  <a:srgbClr val="C5A059"/>
                </a:solidFill>
                <a:latin typeface="Lato Medium"/>
              </a:rPr>
              <a:t>~ 2 km</a:t>
            </a:r>
          </a:p>
        </p:txBody>
      </p:sp>
      <p:sp>
        <p:nvSpPr>
          <p:cNvPr id="12" name="Rectangle 11"/>
          <p:cNvSpPr/>
          <p:nvPr/>
        </p:nvSpPr>
        <p:spPr>
          <a:xfrm>
            <a:off x="1333500" y="37957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7000" y="32908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Baruipur Happy Valley </a:t>
            </a:r>
            <a:r>
              <a:rPr sz="1200" b="0" i="0" u="none">
                <a:solidFill>
                  <a:srgbClr val="C5A059"/>
                </a:solidFill>
                <a:latin typeface="Lato Medium"/>
              </a:rPr>
              <a:t>~ 4 km</a:t>
            </a:r>
          </a:p>
        </p:txBody>
      </p:sp>
      <p:sp>
        <p:nvSpPr>
          <p:cNvPr id="14" name="Rectangle 13"/>
          <p:cNvSpPr/>
          <p:nvPr/>
        </p:nvSpPr>
        <p:spPr>
          <a:xfrm>
            <a:off x="6477000" y="37957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33500" y="40909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Baruipur District HQ </a:t>
            </a:r>
            <a:r>
              <a:rPr sz="1200" b="0" i="0" u="none">
                <a:solidFill>
                  <a:srgbClr val="C5A059"/>
                </a:solidFill>
                <a:latin typeface="Lato Medium"/>
              </a:rPr>
              <a:t>~ 4.5 km</a:t>
            </a:r>
          </a:p>
        </p:txBody>
      </p:sp>
      <p:sp>
        <p:nvSpPr>
          <p:cNvPr id="16" name="Rectangle 15"/>
          <p:cNvSpPr/>
          <p:nvPr/>
        </p:nvSpPr>
        <p:spPr>
          <a:xfrm>
            <a:off x="1333500" y="45958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7000" y="40909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Baruipur Bypass </a:t>
            </a:r>
            <a:r>
              <a:rPr sz="1200" b="0" i="0" u="none">
                <a:solidFill>
                  <a:srgbClr val="C5A059"/>
                </a:solidFill>
                <a:latin typeface="Lato Medium"/>
              </a:rPr>
              <a:t>~ 7 km</a:t>
            </a:r>
          </a:p>
        </p:txBody>
      </p:sp>
      <p:sp>
        <p:nvSpPr>
          <p:cNvPr id="18" name="Rectangle 17"/>
          <p:cNvSpPr/>
          <p:nvPr/>
        </p:nvSpPr>
        <p:spPr>
          <a:xfrm>
            <a:off x="6477000" y="45958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33500" y="48910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Amtala More </a:t>
            </a:r>
            <a:r>
              <a:rPr sz="1200" b="0" i="0" u="none">
                <a:solidFill>
                  <a:srgbClr val="C5A059"/>
                </a:solidFill>
                <a:latin typeface="Lato Medium"/>
              </a:rPr>
              <a:t>~ 8 km</a:t>
            </a:r>
          </a:p>
        </p:txBody>
      </p:sp>
      <p:sp>
        <p:nvSpPr>
          <p:cNvPr id="20" name="Rectangle 19"/>
          <p:cNvSpPr/>
          <p:nvPr/>
        </p:nvSpPr>
        <p:spPr>
          <a:xfrm>
            <a:off x="1333500" y="53959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7000" y="4891087"/>
            <a:ext cx="4381500" cy="419100"/>
          </a:xfrm>
          <a:prstGeom prst="rect">
            <a:avLst/>
          </a:prstGeom>
          <a:noFill/>
        </p:spPr>
        <p:txBody>
          <a:bodyPr wrap="square" lIns="0" tIns="0" rIns="0" bIns="0" anchor="ctr">
            <a:spAutoFit/>
          </a:bodyPr>
          <a:lstStyle/>
          <a:p>
            <a:pPr algn="l"/>
            <a:r>
              <a:rPr sz="1200" b="0" i="0" u="none">
                <a:solidFill>
                  <a:srgbClr val="FDFBF7"/>
                </a:solidFill>
                <a:latin typeface="Lato"/>
              </a:rPr>
              <a:t>Garia Metro </a:t>
            </a:r>
            <a:r>
              <a:rPr sz="1200" b="0" i="0" u="none">
                <a:solidFill>
                  <a:srgbClr val="C5A059"/>
                </a:solidFill>
                <a:latin typeface="Lato Medium"/>
              </a:rPr>
              <a:t>~ 14 km</a:t>
            </a:r>
          </a:p>
        </p:txBody>
      </p:sp>
      <p:sp>
        <p:nvSpPr>
          <p:cNvPr id="22" name="Rectangle 21"/>
          <p:cNvSpPr/>
          <p:nvPr/>
        </p:nvSpPr>
        <p:spPr>
          <a:xfrm>
            <a:off x="6477000" y="5395912"/>
            <a:ext cx="4381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5275" y="571500"/>
            <a:ext cx="11601450" cy="594270"/>
          </a:xfrm>
          <a:prstGeom prst="rect">
            <a:avLst/>
          </a:prstGeom>
          <a:noFill/>
        </p:spPr>
        <p:txBody>
          <a:bodyPr wrap="square" lIns="0" tIns="0" rIns="0" bIns="0" anchor="t">
            <a:spAutoFit/>
          </a:bodyPr>
          <a:lstStyle/>
          <a:p>
            <a:pPr algn="ctr">
              <a:lnSpc>
                <a:spcPts val="4680"/>
              </a:lnSpc>
            </a:pPr>
            <a:r>
              <a:rPr sz="3900" b="0" i="0" u="none">
                <a:solidFill>
                  <a:srgbClr val="FDFBF7"/>
                </a:solidFill>
                <a:latin typeface="Playfair Display"/>
              </a:rPr>
              <a:t>Effortless </a:t>
            </a:r>
            <a:r>
              <a:rPr sz="3900" b="0" i="0" u="none">
                <a:solidFill>
                  <a:srgbClr val="C5A059"/>
                </a:solidFill>
                <a:latin typeface="Playfair Display"/>
              </a:rPr>
              <a:t>Connectivity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TextBox 1"/>
          <p:cNvSpPr txBox="1"/>
          <p:nvPr/>
        </p:nvSpPr>
        <p:spPr>
          <a:xfrm>
            <a:off x="762000" y="582066"/>
            <a:ext cx="5300662" cy="1188541"/>
          </a:xfrm>
          <a:prstGeom prst="rect">
            <a:avLst/>
          </a:prstGeom>
          <a:noFill/>
        </p:spPr>
        <p:txBody>
          <a:bodyPr wrap="square" lIns="0" tIns="0" rIns="0" bIns="0" anchor="t">
            <a:spAutoFit/>
          </a:bodyPr>
          <a:lstStyle/>
          <a:p>
            <a:pPr algn="l">
              <a:lnSpc>
                <a:spcPts val="4680"/>
              </a:lnSpc>
            </a:pPr>
            <a:r>
              <a:rPr sz="3900" b="0" i="0" u="none">
                <a:solidFill>
                  <a:srgbClr val="12301C"/>
                </a:solidFill>
                <a:latin typeface="Playfair Display"/>
              </a:rPr>
              <a:t>Transport &amp;</a:t>
            </a:r>
            <a:r>
              <a:t>
</a:t>
            </a:r>
            <a:r>
              <a:rPr sz="3900" b="0" i="0" u="none">
                <a:solidFill>
                  <a:srgbClr val="C5A059"/>
                </a:solidFill>
                <a:latin typeface="Playfair Display"/>
              </a:rPr>
              <a:t>Road Accessibility</a:t>
            </a:r>
          </a:p>
        </p:txBody>
      </p:sp>
      <p:sp>
        <p:nvSpPr>
          <p:cNvPr id="4" name="TextBox 3"/>
          <p:cNvSpPr txBox="1"/>
          <p:nvPr/>
        </p:nvSpPr>
        <p:spPr>
          <a:xfrm>
            <a:off x="762000" y="2151608"/>
            <a:ext cx="5048250" cy="9239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Shantiban City benefits from excellent accessibility, featuring strategic </a:t>
            </a:r>
            <a:r>
              <a:rPr sz="1500" b="0" i="0" u="none">
                <a:solidFill>
                  <a:srgbClr val="12301C"/>
                </a:solidFill>
                <a:latin typeface="Lato"/>
              </a:rPr>
              <a:t>three-way road connectivity</a:t>
            </a:r>
            <a:r>
              <a:rPr sz="1500" b="0" i="0" u="none">
                <a:solidFill>
                  <a:srgbClr val="12301C"/>
                </a:solidFill>
                <a:latin typeface="Lato Light"/>
              </a:rPr>
              <a:t> that makes daily commutes simple and efficient.</a:t>
            </a:r>
          </a:p>
        </p:txBody>
      </p:sp>
      <p:sp>
        <p:nvSpPr>
          <p:cNvPr id="5" name="Rectangle 4"/>
          <p:cNvSpPr/>
          <p:nvPr/>
        </p:nvSpPr>
        <p:spPr>
          <a:xfrm>
            <a:off x="762000" y="3504158"/>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2000" y="3799433"/>
            <a:ext cx="5048250"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Transport readily available around the project includes:</a:t>
            </a:r>
          </a:p>
        </p:txBody>
      </p:sp>
      <p:sp>
        <p:nvSpPr>
          <p:cNvPr id="7" name="TextBox 6"/>
          <p:cNvSpPr txBox="1"/>
          <p:nvPr/>
        </p:nvSpPr>
        <p:spPr>
          <a:xfrm>
            <a:off x="1000125" y="4294733"/>
            <a:ext cx="481012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Public Bus Services</a:t>
            </a:r>
          </a:p>
        </p:txBody>
      </p:sp>
      <p:sp>
        <p:nvSpPr>
          <p:cNvPr id="8" name="TextBox 7"/>
          <p:cNvSpPr txBox="1"/>
          <p:nvPr/>
        </p:nvSpPr>
        <p:spPr>
          <a:xfrm>
            <a:off x="1000125" y="4790033"/>
            <a:ext cx="481012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Auto-rickshaws</a:t>
            </a:r>
          </a:p>
        </p:txBody>
      </p:sp>
      <p:sp>
        <p:nvSpPr>
          <p:cNvPr id="9" name="TextBox 8"/>
          <p:cNvSpPr txBox="1"/>
          <p:nvPr/>
        </p:nvSpPr>
        <p:spPr>
          <a:xfrm>
            <a:off x="1000125" y="5285333"/>
            <a:ext cx="481012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Rickshaws</a:t>
            </a:r>
          </a:p>
        </p:txBody>
      </p:sp>
      <p:sp>
        <p:nvSpPr>
          <p:cNvPr id="10" name="TextBox 9"/>
          <p:cNvSpPr txBox="1"/>
          <p:nvPr/>
        </p:nvSpPr>
        <p:spPr>
          <a:xfrm>
            <a:off x="1000125" y="5780633"/>
            <a:ext cx="481012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Easy access for Private Cars</a:t>
            </a:r>
          </a:p>
        </p:txBody>
      </p:sp>
      <p:pic>
        <p:nvPicPr>
          <p:cNvPr id="12" name="Picture 11">
            <a:extLst>
              <a:ext uri="{FF2B5EF4-FFF2-40B4-BE49-F238E27FC236}">
                <a16:creationId xmlns:a16="http://schemas.microsoft.com/office/drawing/2014/main" id="{6C5F8F22-9E34-3443-FEDC-59B4BC80D2A8}"/>
              </a:ext>
            </a:extLst>
          </p:cNvPr>
          <p:cNvPicPr>
            <a:picLocks noChangeAspect="1"/>
          </p:cNvPicPr>
          <p:nvPr/>
        </p:nvPicPr>
        <p:blipFill>
          <a:blip r:embed="rId2"/>
          <a:stretch>
            <a:fillRect/>
          </a:stretch>
        </p:blipFill>
        <p:spPr>
          <a:xfrm>
            <a:off x="6703643" y="0"/>
            <a:ext cx="5488357"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2D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953250" y="5087242"/>
            <a:ext cx="4476750" cy="986730"/>
          </a:xfrm>
          <a:prstGeom prst="rect">
            <a:avLst/>
          </a:prstGeom>
        </p:spPr>
      </p:pic>
      <p:pic>
        <p:nvPicPr>
          <p:cNvPr id="3" name="Picture 2" descr="image.png"/>
          <p:cNvPicPr>
            <a:picLocks noChangeAspect="1"/>
          </p:cNvPicPr>
          <p:nvPr/>
        </p:nvPicPr>
        <p:blipFill>
          <a:blip r:embed="rId3"/>
          <a:stretch>
            <a:fillRect/>
          </a:stretch>
        </p:blipFill>
        <p:spPr>
          <a:xfrm>
            <a:off x="0" y="0"/>
            <a:ext cx="5810250" cy="6858000"/>
          </a:xfrm>
          <a:prstGeom prst="rect">
            <a:avLst/>
          </a:prstGeom>
        </p:spPr>
      </p:pic>
      <p:sp>
        <p:nvSpPr>
          <p:cNvPr id="4" name="TextBox 3"/>
          <p:cNvSpPr txBox="1"/>
          <p:nvPr/>
        </p:nvSpPr>
        <p:spPr>
          <a:xfrm>
            <a:off x="6953250" y="762000"/>
            <a:ext cx="4700587" cy="1188541"/>
          </a:xfrm>
          <a:prstGeom prst="rect">
            <a:avLst/>
          </a:prstGeom>
          <a:noFill/>
        </p:spPr>
        <p:txBody>
          <a:bodyPr wrap="square" lIns="0" tIns="0" rIns="0" bIns="0" anchor="t">
            <a:spAutoFit/>
          </a:bodyPr>
          <a:lstStyle/>
          <a:p>
            <a:pPr algn="l">
              <a:lnSpc>
                <a:spcPts val="4680"/>
              </a:lnSpc>
            </a:pPr>
            <a:r>
              <a:rPr sz="3900" b="0" i="0" u="none">
                <a:solidFill>
                  <a:srgbClr val="12301C"/>
                </a:solidFill>
                <a:latin typeface="Playfair Display"/>
              </a:rPr>
              <a:t>Metro</a:t>
            </a:r>
            <a:r>
              <a:t>
</a:t>
            </a:r>
            <a:r>
              <a:rPr sz="3900" b="0" i="0" u="none">
                <a:solidFill>
                  <a:srgbClr val="C5A059"/>
                </a:solidFill>
                <a:latin typeface="Playfair Display"/>
              </a:rPr>
              <a:t>Connectivity</a:t>
            </a:r>
          </a:p>
        </p:txBody>
      </p:sp>
      <p:sp>
        <p:nvSpPr>
          <p:cNvPr id="5" name="TextBox 4"/>
          <p:cNvSpPr txBox="1"/>
          <p:nvPr/>
        </p:nvSpPr>
        <p:spPr>
          <a:xfrm>
            <a:off x="6953250" y="2353567"/>
            <a:ext cx="4476750"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Seamlessly connected to the wider urban infrastructure, Shantiban City allows you to enjoy peaceful living without sacrificing city accessibility.</a:t>
            </a:r>
          </a:p>
        </p:txBody>
      </p:sp>
      <p:sp>
        <p:nvSpPr>
          <p:cNvPr id="6" name="TextBox 5"/>
          <p:cNvSpPr txBox="1"/>
          <p:nvPr/>
        </p:nvSpPr>
        <p:spPr>
          <a:xfrm>
            <a:off x="6953250" y="5382517"/>
            <a:ext cx="4476750" cy="548580"/>
          </a:xfrm>
          <a:prstGeom prst="rect">
            <a:avLst/>
          </a:prstGeom>
          <a:noFill/>
        </p:spPr>
        <p:txBody>
          <a:bodyPr wrap="square" lIns="0" tIns="0" rIns="0" bIns="0" anchor="t">
            <a:spAutoFit/>
          </a:bodyPr>
          <a:lstStyle/>
          <a:p>
            <a:pPr algn="l">
              <a:lnSpc>
                <a:spcPts val="2160"/>
              </a:lnSpc>
            </a:pPr>
            <a:r>
              <a:rPr sz="1350" b="0" i="1" u="none">
                <a:solidFill>
                  <a:srgbClr val="555555"/>
                </a:solidFill>
                <a:latin typeface="Lato Light"/>
              </a:rPr>
              <a:t>*Please note: There is also a proposed / future metro connectivity reference planned for the wider area.</a:t>
            </a:r>
          </a:p>
        </p:txBody>
      </p:sp>
      <p:sp>
        <p:nvSpPr>
          <p:cNvPr id="7" name="TextBox 6"/>
          <p:cNvSpPr txBox="1"/>
          <p:nvPr/>
        </p:nvSpPr>
        <p:spPr>
          <a:xfrm>
            <a:off x="7191375" y="3696592"/>
            <a:ext cx="4238625" cy="3143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Garia Metro:</a:t>
            </a:r>
            <a:r>
              <a:rPr sz="1500" b="0" i="0" u="none">
                <a:solidFill>
                  <a:srgbClr val="12301C"/>
                </a:solidFill>
                <a:latin typeface="Lato Light"/>
              </a:rPr>
              <a:t> Approximately 14 km</a:t>
            </a:r>
          </a:p>
        </p:txBody>
      </p:sp>
      <p:sp>
        <p:nvSpPr>
          <p:cNvPr id="8" name="TextBox 7"/>
          <p:cNvSpPr txBox="1"/>
          <p:nvPr/>
        </p:nvSpPr>
        <p:spPr>
          <a:xfrm>
            <a:off x="7191375" y="4201417"/>
            <a:ext cx="4238625" cy="314325"/>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a:rPr>
              <a:t>Joka Metro:</a:t>
            </a:r>
            <a:r>
              <a:rPr sz="1500" b="0" i="0" u="none">
                <a:solidFill>
                  <a:srgbClr val="12301C"/>
                </a:solidFill>
                <a:latin typeface="Lato Light"/>
              </a:rPr>
              <a:t> Approximately 15 km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3375570"/>
            <a:ext cx="2547937" cy="2762250"/>
          </a:xfrm>
          <a:prstGeom prst="rect">
            <a:avLst/>
          </a:prstGeom>
        </p:spPr>
      </p:pic>
      <p:pic>
        <p:nvPicPr>
          <p:cNvPr id="3" name="Picture 2" descr="image.png"/>
          <p:cNvPicPr>
            <a:picLocks noChangeAspect="1"/>
          </p:cNvPicPr>
          <p:nvPr/>
        </p:nvPicPr>
        <p:blipFill>
          <a:blip r:embed="rId3"/>
          <a:stretch>
            <a:fillRect/>
          </a:stretch>
        </p:blipFill>
        <p:spPr>
          <a:xfrm>
            <a:off x="3405187" y="3375570"/>
            <a:ext cx="2547937" cy="2762250"/>
          </a:xfrm>
          <a:prstGeom prst="rect">
            <a:avLst/>
          </a:prstGeom>
        </p:spPr>
      </p:pic>
      <p:pic>
        <p:nvPicPr>
          <p:cNvPr id="4" name="Picture 3" descr="image.png"/>
          <p:cNvPicPr>
            <a:picLocks noChangeAspect="1"/>
          </p:cNvPicPr>
          <p:nvPr/>
        </p:nvPicPr>
        <p:blipFill>
          <a:blip r:embed="rId2"/>
          <a:stretch>
            <a:fillRect/>
          </a:stretch>
        </p:blipFill>
        <p:spPr>
          <a:xfrm>
            <a:off x="6238875" y="3375570"/>
            <a:ext cx="2547937" cy="2762250"/>
          </a:xfrm>
          <a:prstGeom prst="rect">
            <a:avLst/>
          </a:prstGeom>
        </p:spPr>
      </p:pic>
      <p:pic>
        <p:nvPicPr>
          <p:cNvPr id="5" name="Picture 4" descr="image.png"/>
          <p:cNvPicPr>
            <a:picLocks noChangeAspect="1"/>
          </p:cNvPicPr>
          <p:nvPr/>
        </p:nvPicPr>
        <p:blipFill>
          <a:blip r:embed="rId3"/>
          <a:stretch>
            <a:fillRect/>
          </a:stretch>
        </p:blipFill>
        <p:spPr>
          <a:xfrm>
            <a:off x="9072562" y="3375570"/>
            <a:ext cx="2547937" cy="2762250"/>
          </a:xfrm>
          <a:prstGeom prst="rect">
            <a:avLst/>
          </a:prstGeom>
        </p:spPr>
      </p:pic>
      <p:sp>
        <p:nvSpPr>
          <p:cNvPr id="6" name="TextBox 5"/>
          <p:cNvSpPr txBox="1"/>
          <p:nvPr/>
        </p:nvSpPr>
        <p:spPr>
          <a:xfrm>
            <a:off x="2286000" y="2289720"/>
            <a:ext cx="7620000" cy="609600"/>
          </a:xfrm>
          <a:prstGeom prst="rect">
            <a:avLst/>
          </a:prstGeom>
          <a:noFill/>
        </p:spPr>
        <p:txBody>
          <a:bodyPr wrap="square" lIns="0" tIns="0" rIns="0" bIns="0" anchor="t">
            <a:spAutoFit/>
          </a:bodyPr>
          <a:lstStyle/>
          <a:p>
            <a:pPr algn="ctr">
              <a:lnSpc>
                <a:spcPts val="2400"/>
              </a:lnSpc>
            </a:pPr>
            <a:r>
              <a:rPr sz="1500" b="0" i="0" u="none">
                <a:solidFill>
                  <a:srgbClr val="12301C"/>
                </a:solidFill>
                <a:latin typeface="Lato Light"/>
              </a:rPr>
              <a:t>The surrounding area of Tapna, Baruipur provides ready access to everyday services and essential facilities, ensuring your family's daily life is comfortable.</a:t>
            </a:r>
          </a:p>
        </p:txBody>
      </p:sp>
      <p:sp>
        <p:nvSpPr>
          <p:cNvPr id="7" name="TextBox 6"/>
          <p:cNvSpPr txBox="1"/>
          <p:nvPr/>
        </p:nvSpPr>
        <p:spPr>
          <a:xfrm>
            <a:off x="857250" y="4299495"/>
            <a:ext cx="2075259" cy="304800"/>
          </a:xfrm>
          <a:prstGeom prst="rect">
            <a:avLst/>
          </a:prstGeom>
          <a:noFill/>
        </p:spPr>
        <p:txBody>
          <a:bodyPr wrap="square" lIns="0" tIns="0" rIns="0" bIns="0" anchor="t">
            <a:spAutoFit/>
          </a:bodyPr>
          <a:lstStyle/>
          <a:p>
            <a:pPr algn="l"/>
            <a:r>
              <a:rPr sz="1800" b="0" i="0" u="none">
                <a:solidFill>
                  <a:srgbClr val="12301C"/>
                </a:solidFill>
                <a:latin typeface="Playfair Display"/>
              </a:rPr>
              <a:t>Market</a:t>
            </a:r>
          </a:p>
        </p:txBody>
      </p:sp>
      <p:sp>
        <p:nvSpPr>
          <p:cNvPr id="8" name="TextBox 7"/>
          <p:cNvSpPr txBox="1"/>
          <p:nvPr/>
        </p:nvSpPr>
        <p:spPr>
          <a:xfrm>
            <a:off x="857250" y="4794795"/>
            <a:ext cx="1976437"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Nearest market is approximately 500 m away.</a:t>
            </a:r>
          </a:p>
        </p:txBody>
      </p:sp>
      <p:sp>
        <p:nvSpPr>
          <p:cNvPr id="9" name="TextBox 8"/>
          <p:cNvSpPr txBox="1"/>
          <p:nvPr/>
        </p:nvSpPr>
        <p:spPr>
          <a:xfrm>
            <a:off x="3690937" y="4299495"/>
            <a:ext cx="2075259" cy="304800"/>
          </a:xfrm>
          <a:prstGeom prst="rect">
            <a:avLst/>
          </a:prstGeom>
          <a:noFill/>
        </p:spPr>
        <p:txBody>
          <a:bodyPr wrap="square" lIns="0" tIns="0" rIns="0" bIns="0" anchor="t">
            <a:spAutoFit/>
          </a:bodyPr>
          <a:lstStyle/>
          <a:p>
            <a:pPr algn="l"/>
            <a:r>
              <a:rPr sz="1800" b="0" i="0" u="none">
                <a:solidFill>
                  <a:srgbClr val="12301C"/>
                </a:solidFill>
                <a:latin typeface="Playfair Display"/>
              </a:rPr>
              <a:t>School</a:t>
            </a:r>
          </a:p>
        </p:txBody>
      </p:sp>
      <p:sp>
        <p:nvSpPr>
          <p:cNvPr id="10" name="TextBox 9"/>
          <p:cNvSpPr txBox="1"/>
          <p:nvPr/>
        </p:nvSpPr>
        <p:spPr>
          <a:xfrm>
            <a:off x="3690937" y="4794795"/>
            <a:ext cx="1976437"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Nearest school is approximately 1.5 km away.</a:t>
            </a:r>
          </a:p>
        </p:txBody>
      </p:sp>
      <p:sp>
        <p:nvSpPr>
          <p:cNvPr id="11" name="TextBox 10"/>
          <p:cNvSpPr txBox="1"/>
          <p:nvPr/>
        </p:nvSpPr>
        <p:spPr>
          <a:xfrm>
            <a:off x="6524625" y="4299495"/>
            <a:ext cx="2075259" cy="304800"/>
          </a:xfrm>
          <a:prstGeom prst="rect">
            <a:avLst/>
          </a:prstGeom>
          <a:noFill/>
        </p:spPr>
        <p:txBody>
          <a:bodyPr wrap="square" lIns="0" tIns="0" rIns="0" bIns="0" anchor="t">
            <a:spAutoFit/>
          </a:bodyPr>
          <a:lstStyle/>
          <a:p>
            <a:pPr algn="l"/>
            <a:r>
              <a:rPr sz="1800" b="0" i="0" u="none">
                <a:solidFill>
                  <a:srgbClr val="12301C"/>
                </a:solidFill>
                <a:latin typeface="Playfair Display"/>
              </a:rPr>
              <a:t>Transit</a:t>
            </a:r>
          </a:p>
        </p:txBody>
      </p:sp>
      <p:sp>
        <p:nvSpPr>
          <p:cNvPr id="12" name="TextBox 11"/>
          <p:cNvSpPr txBox="1"/>
          <p:nvPr/>
        </p:nvSpPr>
        <p:spPr>
          <a:xfrm>
            <a:off x="6524625" y="4794795"/>
            <a:ext cx="1976437"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Nearest bus terminus is approximately 1.5 km away.</a:t>
            </a:r>
          </a:p>
        </p:txBody>
      </p:sp>
      <p:sp>
        <p:nvSpPr>
          <p:cNvPr id="13" name="TextBox 12"/>
          <p:cNvSpPr txBox="1"/>
          <p:nvPr/>
        </p:nvSpPr>
        <p:spPr>
          <a:xfrm>
            <a:off x="9358312" y="4299495"/>
            <a:ext cx="2075259" cy="304800"/>
          </a:xfrm>
          <a:prstGeom prst="rect">
            <a:avLst/>
          </a:prstGeom>
          <a:noFill/>
        </p:spPr>
        <p:txBody>
          <a:bodyPr wrap="square" lIns="0" tIns="0" rIns="0" bIns="0" anchor="t">
            <a:spAutoFit/>
          </a:bodyPr>
          <a:lstStyle/>
          <a:p>
            <a:pPr algn="l"/>
            <a:r>
              <a:rPr sz="1800" b="0" i="0" u="none">
                <a:solidFill>
                  <a:srgbClr val="12301C"/>
                </a:solidFill>
                <a:latin typeface="Playfair Display"/>
              </a:rPr>
              <a:t>Hospital</a:t>
            </a:r>
          </a:p>
        </p:txBody>
      </p:sp>
      <p:sp>
        <p:nvSpPr>
          <p:cNvPr id="14" name="TextBox 13"/>
          <p:cNvSpPr txBox="1"/>
          <p:nvPr/>
        </p:nvSpPr>
        <p:spPr>
          <a:xfrm>
            <a:off x="9358312" y="4794795"/>
            <a:ext cx="1976437"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Nearest hospital is approximately 2 km away.</a:t>
            </a:r>
          </a:p>
        </p:txBody>
      </p:sp>
      <p:pic>
        <p:nvPicPr>
          <p:cNvPr id="15" name="Picture 14" descr="image.png"/>
          <p:cNvPicPr>
            <a:picLocks noChangeAspect="1"/>
          </p:cNvPicPr>
          <p:nvPr/>
        </p:nvPicPr>
        <p:blipFill>
          <a:blip r:embed="rId4"/>
          <a:stretch>
            <a:fillRect/>
          </a:stretch>
        </p:blipFill>
        <p:spPr>
          <a:xfrm>
            <a:off x="857250" y="3737520"/>
            <a:ext cx="390525" cy="342900"/>
          </a:xfrm>
          <a:prstGeom prst="rect">
            <a:avLst/>
          </a:prstGeom>
        </p:spPr>
      </p:pic>
      <p:pic>
        <p:nvPicPr>
          <p:cNvPr id="16" name="Picture 15" descr="image.png"/>
          <p:cNvPicPr>
            <a:picLocks noChangeAspect="1"/>
          </p:cNvPicPr>
          <p:nvPr/>
        </p:nvPicPr>
        <p:blipFill>
          <a:blip r:embed="rId5"/>
          <a:stretch>
            <a:fillRect/>
          </a:stretch>
        </p:blipFill>
        <p:spPr>
          <a:xfrm>
            <a:off x="3690937" y="3737520"/>
            <a:ext cx="428625" cy="342900"/>
          </a:xfrm>
          <a:prstGeom prst="rect">
            <a:avLst/>
          </a:prstGeom>
        </p:spPr>
      </p:pic>
      <p:pic>
        <p:nvPicPr>
          <p:cNvPr id="17" name="Picture 16" descr="image.png"/>
          <p:cNvPicPr>
            <a:picLocks noChangeAspect="1"/>
          </p:cNvPicPr>
          <p:nvPr/>
        </p:nvPicPr>
        <p:blipFill>
          <a:blip r:embed="rId6"/>
          <a:stretch>
            <a:fillRect/>
          </a:stretch>
        </p:blipFill>
        <p:spPr>
          <a:xfrm>
            <a:off x="6524625" y="3737520"/>
            <a:ext cx="390525" cy="342900"/>
          </a:xfrm>
          <a:prstGeom prst="rect">
            <a:avLst/>
          </a:prstGeom>
        </p:spPr>
      </p:pic>
      <p:pic>
        <p:nvPicPr>
          <p:cNvPr id="18" name="Picture 17" descr="image.png"/>
          <p:cNvPicPr>
            <a:picLocks noChangeAspect="1"/>
          </p:cNvPicPr>
          <p:nvPr/>
        </p:nvPicPr>
        <p:blipFill>
          <a:blip r:embed="rId7"/>
          <a:stretch>
            <a:fillRect/>
          </a:stretch>
        </p:blipFill>
        <p:spPr>
          <a:xfrm>
            <a:off x="9358312" y="3737520"/>
            <a:ext cx="428625" cy="342900"/>
          </a:xfrm>
          <a:prstGeom prst="rect">
            <a:avLst/>
          </a:prstGeom>
        </p:spPr>
      </p:pic>
      <p:sp>
        <p:nvSpPr>
          <p:cNvPr id="19" name="TextBox 18"/>
          <p:cNvSpPr txBox="1"/>
          <p:nvPr/>
        </p:nvSpPr>
        <p:spPr>
          <a:xfrm>
            <a:off x="295275" y="571500"/>
            <a:ext cx="11601450" cy="1188541"/>
          </a:xfrm>
          <a:prstGeom prst="rect">
            <a:avLst/>
          </a:prstGeom>
          <a:noFill/>
        </p:spPr>
        <p:txBody>
          <a:bodyPr wrap="square" lIns="0" tIns="0" rIns="0" bIns="0" anchor="t">
            <a:spAutoFit/>
          </a:bodyPr>
          <a:lstStyle/>
          <a:p>
            <a:pPr algn="ctr">
              <a:lnSpc>
                <a:spcPts val="4680"/>
              </a:lnSpc>
            </a:pPr>
            <a:r>
              <a:rPr sz="3900" b="0" i="0" u="none">
                <a:solidFill>
                  <a:srgbClr val="12301C"/>
                </a:solidFill>
                <a:latin typeface="Playfair Display"/>
              </a:rPr>
              <a:t>Everything you need,</a:t>
            </a:r>
            <a:r>
              <a:t>
</a:t>
            </a:r>
            <a:r>
              <a:rPr sz="3900" b="0" i="0" u="none">
                <a:solidFill>
                  <a:srgbClr val="C5A059"/>
                </a:solidFill>
                <a:latin typeface="Playfair Display"/>
              </a:rPr>
              <a:t>within reach.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2D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334000" y="1535459"/>
            <a:ext cx="6286500" cy="4762500"/>
          </a:xfrm>
          <a:prstGeom prst="rect">
            <a:avLst/>
          </a:prstGeom>
        </p:spPr>
      </p:pic>
      <p:sp>
        <p:nvSpPr>
          <p:cNvPr id="3" name="TextBox 2"/>
          <p:cNvSpPr txBox="1"/>
          <p:nvPr/>
        </p:nvSpPr>
        <p:spPr>
          <a:xfrm>
            <a:off x="571500" y="1335434"/>
            <a:ext cx="4191000" cy="9144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Shantiban City is designed with thoughtful internal facilities included in the development concept to elevate your everyday living:</a:t>
            </a:r>
          </a:p>
        </p:txBody>
      </p:sp>
      <p:pic>
        <p:nvPicPr>
          <p:cNvPr id="4" name="Picture 3" descr="image.png"/>
          <p:cNvPicPr>
            <a:picLocks noChangeAspect="1"/>
          </p:cNvPicPr>
          <p:nvPr/>
        </p:nvPicPr>
        <p:blipFill>
          <a:blip r:embed="rId3"/>
          <a:stretch>
            <a:fillRect/>
          </a:stretch>
        </p:blipFill>
        <p:spPr>
          <a:xfrm>
            <a:off x="5343525" y="1544984"/>
            <a:ext cx="2305050" cy="371475"/>
          </a:xfrm>
          <a:prstGeom prst="rect">
            <a:avLst/>
          </a:prstGeom>
        </p:spPr>
      </p:pic>
      <p:sp>
        <p:nvSpPr>
          <p:cNvPr id="5" name="TextBox 4"/>
          <p:cNvSpPr txBox="1"/>
          <p:nvPr/>
        </p:nvSpPr>
        <p:spPr>
          <a:xfrm>
            <a:off x="809625" y="25355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Gated Residential Community</a:t>
            </a:r>
          </a:p>
        </p:txBody>
      </p:sp>
      <p:sp>
        <p:nvSpPr>
          <p:cNvPr id="6" name="TextBox 5"/>
          <p:cNvSpPr txBox="1"/>
          <p:nvPr/>
        </p:nvSpPr>
        <p:spPr>
          <a:xfrm>
            <a:off x="809625" y="30308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Security Arrangements</a:t>
            </a:r>
          </a:p>
        </p:txBody>
      </p:sp>
      <p:sp>
        <p:nvSpPr>
          <p:cNvPr id="7" name="TextBox 6"/>
          <p:cNvSpPr txBox="1"/>
          <p:nvPr/>
        </p:nvSpPr>
        <p:spPr>
          <a:xfrm>
            <a:off x="809625" y="35261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Wide Internal Roads</a:t>
            </a:r>
          </a:p>
        </p:txBody>
      </p:sp>
      <p:sp>
        <p:nvSpPr>
          <p:cNvPr id="8" name="TextBox 7"/>
          <p:cNvSpPr txBox="1"/>
          <p:nvPr/>
        </p:nvSpPr>
        <p:spPr>
          <a:xfrm>
            <a:off x="809625" y="40214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Electricity Facilities</a:t>
            </a:r>
          </a:p>
        </p:txBody>
      </p:sp>
      <p:sp>
        <p:nvSpPr>
          <p:cNvPr id="9" name="TextBox 8"/>
          <p:cNvSpPr txBox="1"/>
          <p:nvPr/>
        </p:nvSpPr>
        <p:spPr>
          <a:xfrm>
            <a:off x="809625" y="45167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Concrete Drainage Infrastructure</a:t>
            </a:r>
          </a:p>
        </p:txBody>
      </p:sp>
      <p:sp>
        <p:nvSpPr>
          <p:cNvPr id="10" name="TextBox 9"/>
          <p:cNvSpPr txBox="1"/>
          <p:nvPr/>
        </p:nvSpPr>
        <p:spPr>
          <a:xfrm>
            <a:off x="809625" y="50120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Designated Planned Park</a:t>
            </a:r>
          </a:p>
        </p:txBody>
      </p:sp>
      <p:sp>
        <p:nvSpPr>
          <p:cNvPr id="11" name="TextBox 10"/>
          <p:cNvSpPr txBox="1"/>
          <p:nvPr/>
        </p:nvSpPr>
        <p:spPr>
          <a:xfrm>
            <a:off x="809625" y="55073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Community Hall Space</a:t>
            </a:r>
          </a:p>
        </p:txBody>
      </p:sp>
      <p:sp>
        <p:nvSpPr>
          <p:cNvPr id="12" name="TextBox 11"/>
          <p:cNvSpPr txBox="1"/>
          <p:nvPr/>
        </p:nvSpPr>
        <p:spPr>
          <a:xfrm>
            <a:off x="809625" y="6002684"/>
            <a:ext cx="3952875" cy="304800"/>
          </a:xfrm>
          <a:prstGeom prst="rect">
            <a:avLst/>
          </a:prstGeom>
          <a:noFill/>
        </p:spPr>
        <p:txBody>
          <a:bodyPr wrap="square" lIns="0" tIns="0" rIns="0" bIns="0" anchor="t">
            <a:spAutoFit/>
          </a:bodyPr>
          <a:lstStyle/>
          <a:p>
            <a:pPr algn="l">
              <a:lnSpc>
                <a:spcPts val="2400"/>
              </a:lnSpc>
            </a:pPr>
            <a:r>
              <a:rPr sz="1500" b="0" i="0" u="none">
                <a:solidFill>
                  <a:srgbClr val="12301C"/>
                </a:solidFill>
                <a:latin typeface="Lato Light"/>
              </a:rPr>
              <a:t>Designated Shops / Commercial Spaces</a:t>
            </a:r>
          </a:p>
        </p:txBody>
      </p:sp>
      <p:sp>
        <p:nvSpPr>
          <p:cNvPr id="13" name="TextBox 12"/>
          <p:cNvSpPr txBox="1"/>
          <p:nvPr/>
        </p:nvSpPr>
        <p:spPr>
          <a:xfrm>
            <a:off x="571500" y="360164"/>
            <a:ext cx="11601450" cy="594270"/>
          </a:xfrm>
          <a:prstGeom prst="rect">
            <a:avLst/>
          </a:prstGeom>
          <a:noFill/>
        </p:spPr>
        <p:txBody>
          <a:bodyPr wrap="square" lIns="0" tIns="0" rIns="0" bIns="0" anchor="t">
            <a:spAutoFit/>
          </a:bodyPr>
          <a:lstStyle/>
          <a:p>
            <a:pPr algn="l">
              <a:lnSpc>
                <a:spcPts val="4680"/>
              </a:lnSpc>
            </a:pPr>
            <a:r>
              <a:rPr sz="3900" b="0" i="0" u="none">
                <a:solidFill>
                  <a:srgbClr val="12301C"/>
                </a:solidFill>
                <a:latin typeface="Playfair Display"/>
              </a:rPr>
              <a:t>Planned Community </a:t>
            </a:r>
            <a:r>
              <a:rPr sz="3900" b="0" i="0" u="none">
                <a:solidFill>
                  <a:srgbClr val="C5A059"/>
                </a:solidFill>
                <a:latin typeface="Playfair Display"/>
              </a:rPr>
              <a:t>Infrastructure</a:t>
            </a:r>
          </a:p>
        </p:txBody>
      </p:sp>
      <p:pic>
        <p:nvPicPr>
          <p:cNvPr id="15" name="Picture 14">
            <a:extLst>
              <a:ext uri="{FF2B5EF4-FFF2-40B4-BE49-F238E27FC236}">
                <a16:creationId xmlns:a16="http://schemas.microsoft.com/office/drawing/2014/main" id="{C4767779-CFD2-D35E-07EE-16646A7E3C5D}"/>
              </a:ext>
            </a:extLst>
          </p:cNvPr>
          <p:cNvPicPr>
            <a:picLocks noChangeAspect="1"/>
          </p:cNvPicPr>
          <p:nvPr/>
        </p:nvPicPr>
        <p:blipFill>
          <a:blip r:embed="rId4"/>
          <a:stretch>
            <a:fillRect/>
          </a:stretch>
        </p:blipFill>
        <p:spPr>
          <a:xfrm>
            <a:off x="4957022" y="1417320"/>
            <a:ext cx="7059225" cy="48806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301C"/>
        </a:solidFill>
        <a:effectLst/>
      </p:bgPr>
    </p:bg>
    <p:spTree>
      <p:nvGrpSpPr>
        <p:cNvPr id="1" name=""/>
        <p:cNvGrpSpPr/>
        <p:nvPr/>
      </p:nvGrpSpPr>
      <p:grpSpPr>
        <a:xfrm>
          <a:off x="0" y="0"/>
          <a:ext cx="0" cy="0"/>
          <a:chOff x="0" y="0"/>
          <a:chExt cx="0" cy="0"/>
        </a:xfrm>
      </p:grpSpPr>
      <p:sp>
        <p:nvSpPr>
          <p:cNvPr id="2" name="TextBox 1"/>
          <p:cNvSpPr txBox="1"/>
          <p:nvPr/>
        </p:nvSpPr>
        <p:spPr>
          <a:xfrm>
            <a:off x="762000" y="762000"/>
            <a:ext cx="5300662" cy="1782812"/>
          </a:xfrm>
          <a:prstGeom prst="rect">
            <a:avLst/>
          </a:prstGeom>
          <a:noFill/>
        </p:spPr>
        <p:txBody>
          <a:bodyPr wrap="square" lIns="0" tIns="0" rIns="0" bIns="0" anchor="t">
            <a:spAutoFit/>
          </a:bodyPr>
          <a:lstStyle/>
          <a:p>
            <a:pPr algn="l">
              <a:lnSpc>
                <a:spcPts val="4680"/>
              </a:lnSpc>
            </a:pPr>
            <a:r>
              <a:rPr sz="3900" b="0" i="0" u="none">
                <a:solidFill>
                  <a:srgbClr val="FDFBF7"/>
                </a:solidFill>
                <a:latin typeface="Playfair Display"/>
              </a:rPr>
              <a:t>Own your land.</a:t>
            </a:r>
            <a:r>
              <a:t>
</a:t>
            </a:r>
            <a:r>
              <a:rPr sz="3900" b="0" i="0" u="none">
                <a:solidFill>
                  <a:srgbClr val="C5A059"/>
                </a:solidFill>
                <a:latin typeface="Playfair Display"/>
              </a:rPr>
              <a:t>Build your home.</a:t>
            </a:r>
            <a:r>
              <a:t>
</a:t>
            </a:r>
            <a:r>
              <a:rPr sz="3900" b="0" i="0" u="none">
                <a:solidFill>
                  <a:srgbClr val="FDFBF7"/>
                </a:solidFill>
                <a:latin typeface="Playfair Display"/>
              </a:rPr>
              <a:t> Create your life.</a:t>
            </a:r>
          </a:p>
        </p:txBody>
      </p:sp>
      <p:sp>
        <p:nvSpPr>
          <p:cNvPr id="4" name="TextBox 3"/>
          <p:cNvSpPr txBox="1"/>
          <p:nvPr/>
        </p:nvSpPr>
        <p:spPr>
          <a:xfrm>
            <a:off x="762000" y="3605956"/>
            <a:ext cx="5048250" cy="609600"/>
          </a:xfrm>
          <a:prstGeom prst="rect">
            <a:avLst/>
          </a:prstGeom>
          <a:noFill/>
        </p:spPr>
        <p:txBody>
          <a:bodyPr wrap="square" lIns="0" tIns="0" rIns="0" bIns="0" anchor="t">
            <a:spAutoFit/>
          </a:bodyPr>
          <a:lstStyle/>
          <a:p>
            <a:pPr algn="l">
              <a:lnSpc>
                <a:spcPts val="2400"/>
              </a:lnSpc>
            </a:pPr>
            <a:r>
              <a:rPr sz="1500" b="0" i="0" u="none">
                <a:solidFill>
                  <a:srgbClr val="FDFBF7"/>
                </a:solidFill>
                <a:latin typeface="Lato Light"/>
              </a:rPr>
              <a:t>A canvas for peaceful mornings, safe play for your children, and a warm neighborhood atmosphere.</a:t>
            </a:r>
          </a:p>
        </p:txBody>
      </p:sp>
      <p:sp>
        <p:nvSpPr>
          <p:cNvPr id="5" name="TextBox 4"/>
          <p:cNvSpPr txBox="1"/>
          <p:nvPr/>
        </p:nvSpPr>
        <p:spPr>
          <a:xfrm>
            <a:off x="762000" y="4358431"/>
            <a:ext cx="5048250" cy="914400"/>
          </a:xfrm>
          <a:prstGeom prst="rect">
            <a:avLst/>
          </a:prstGeom>
          <a:noFill/>
        </p:spPr>
        <p:txBody>
          <a:bodyPr wrap="square" lIns="0" tIns="0" rIns="0" bIns="0" anchor="t">
            <a:spAutoFit/>
          </a:bodyPr>
          <a:lstStyle/>
          <a:p>
            <a:pPr algn="l">
              <a:lnSpc>
                <a:spcPts val="2400"/>
              </a:lnSpc>
            </a:pPr>
            <a:r>
              <a:rPr sz="1500" b="0" i="0" u="none">
                <a:solidFill>
                  <a:srgbClr val="FDFBF7"/>
                </a:solidFill>
                <a:latin typeface="Lato Light"/>
              </a:rPr>
              <a:t>Experience the joy of designing a future that perfectly aligns with your family's dreams, surrounded by a community that shares your values.</a:t>
            </a:r>
          </a:p>
        </p:txBody>
      </p:sp>
      <p:pic>
        <p:nvPicPr>
          <p:cNvPr id="7" name="Picture 6">
            <a:extLst>
              <a:ext uri="{FF2B5EF4-FFF2-40B4-BE49-F238E27FC236}">
                <a16:creationId xmlns:a16="http://schemas.microsoft.com/office/drawing/2014/main" id="{DD12194C-256C-9B0F-A9E7-1C40A3F30F0D}"/>
              </a:ext>
            </a:extLst>
          </p:cNvPr>
          <p:cNvPicPr>
            <a:picLocks noChangeAspect="1"/>
          </p:cNvPicPr>
          <p:nvPr/>
        </p:nvPicPr>
        <p:blipFill>
          <a:blip r:embed="rId2"/>
          <a:stretch>
            <a:fillRect/>
          </a:stretch>
        </p:blipFill>
        <p:spPr>
          <a:xfrm>
            <a:off x="6775704" y="0"/>
            <a:ext cx="5416296"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143000" y="1180504"/>
            <a:ext cx="5800725" cy="1619250"/>
          </a:xfrm>
          <a:prstGeom prst="rect">
            <a:avLst/>
          </a:prstGeom>
          <a:noFill/>
        </p:spPr>
        <p:txBody>
          <a:bodyPr wrap="square" lIns="0" tIns="0" rIns="0" bIns="0" anchor="t">
            <a:spAutoFit/>
          </a:bodyPr>
          <a:lstStyle/>
          <a:p>
            <a:pPr algn="l"/>
            <a:r>
              <a:rPr sz="4800" b="0" i="0" u="none">
                <a:solidFill>
                  <a:srgbClr val="FDFBF7"/>
                </a:solidFill>
                <a:latin typeface="Playfair Display"/>
              </a:rPr>
              <a:t>A Return to</a:t>
            </a:r>
            <a:r>
              <a:t>
</a:t>
            </a:r>
            <a:r>
              <a:rPr sz="4800" b="0" i="0" u="none">
                <a:solidFill>
                  <a:srgbClr val="C5A059"/>
                </a:solidFill>
                <a:latin typeface="Playfair Display"/>
              </a:rPr>
              <a:t>Nature</a:t>
            </a:r>
          </a:p>
        </p:txBody>
      </p:sp>
      <p:sp>
        <p:nvSpPr>
          <p:cNvPr id="4" name="Rectangle 3"/>
          <p:cNvSpPr/>
          <p:nvPr/>
        </p:nvSpPr>
        <p:spPr>
          <a:xfrm>
            <a:off x="1143000" y="3085504"/>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3380779"/>
            <a:ext cx="5524500" cy="1005482"/>
          </a:xfrm>
          <a:prstGeom prst="rect">
            <a:avLst/>
          </a:prstGeom>
          <a:noFill/>
        </p:spPr>
        <p:txBody>
          <a:bodyPr wrap="square" lIns="0" tIns="0" rIns="0" bIns="0" anchor="t">
            <a:spAutoFit/>
          </a:bodyPr>
          <a:lstStyle/>
          <a:p>
            <a:pPr algn="l">
              <a:lnSpc>
                <a:spcPts val="2640"/>
              </a:lnSpc>
            </a:pPr>
            <a:r>
              <a:rPr sz="1650" b="0" i="0" u="none">
                <a:solidFill>
                  <a:srgbClr val="FDFBF7"/>
                </a:solidFill>
                <a:latin typeface="Lato Light"/>
              </a:rPr>
              <a:t>Escape the dense concrete jungle. Shantiban City offers a comparatively calm and naturally pleasant residential environment.</a:t>
            </a:r>
          </a:p>
        </p:txBody>
      </p:sp>
      <p:sp>
        <p:nvSpPr>
          <p:cNvPr id="6" name="TextBox 5"/>
          <p:cNvSpPr txBox="1"/>
          <p:nvPr/>
        </p:nvSpPr>
        <p:spPr>
          <a:xfrm>
            <a:off x="1143000" y="4529137"/>
            <a:ext cx="5524500" cy="1005482"/>
          </a:xfrm>
          <a:prstGeom prst="rect">
            <a:avLst/>
          </a:prstGeom>
          <a:noFill/>
        </p:spPr>
        <p:txBody>
          <a:bodyPr wrap="square" lIns="0" tIns="0" rIns="0" bIns="0" anchor="t">
            <a:spAutoFit/>
          </a:bodyPr>
          <a:lstStyle/>
          <a:p>
            <a:pPr algn="l">
              <a:lnSpc>
                <a:spcPts val="2640"/>
              </a:lnSpc>
            </a:pPr>
            <a:r>
              <a:rPr sz="1650" b="0" i="0" u="none">
                <a:solidFill>
                  <a:srgbClr val="FDFBF7"/>
                </a:solidFill>
                <a:latin typeface="Lato Light"/>
              </a:rPr>
              <a:t>Imagine waking up to open skies, green surroundings, and the sound of quiet luxury. It is a space designed not just for living, but for deep, restorative belonging.</a:t>
            </a:r>
          </a:p>
        </p:txBody>
      </p:sp>
      <p:pic>
        <p:nvPicPr>
          <p:cNvPr id="14" name="Picture 13">
            <a:extLst>
              <a:ext uri="{FF2B5EF4-FFF2-40B4-BE49-F238E27FC236}">
                <a16:creationId xmlns:a16="http://schemas.microsoft.com/office/drawing/2014/main" id="{7662010F-95C1-9921-8DB6-C1A580D240FE}"/>
              </a:ext>
            </a:extLst>
          </p:cNvPr>
          <p:cNvPicPr>
            <a:picLocks noChangeAspect="1"/>
          </p:cNvPicPr>
          <p:nvPr/>
        </p:nvPicPr>
        <p:blipFill>
          <a:blip r:embed="rId3"/>
          <a:stretch>
            <a:fillRect/>
          </a:stretch>
        </p:blipFill>
        <p:spPr>
          <a:xfrm>
            <a:off x="7048500" y="0"/>
            <a:ext cx="51435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714500" y="1224260"/>
            <a:ext cx="561975" cy="1771650"/>
          </a:xfrm>
          <a:prstGeom prst="rect">
            <a:avLst/>
          </a:prstGeom>
          <a:noFill/>
        </p:spPr>
        <p:txBody>
          <a:bodyPr wrap="square" lIns="0" tIns="0" rIns="0" bIns="0" anchor="t">
            <a:spAutoFit/>
          </a:bodyPr>
          <a:lstStyle/>
          <a:p>
            <a:pPr algn="l">
              <a:lnSpc>
                <a:spcPts val="10500"/>
              </a:lnSpc>
            </a:pPr>
            <a:r>
              <a:rPr sz="10500" b="0" i="0" u="none">
                <a:solidFill>
                  <a:srgbClr val="C5A059"/>
                </a:solidFill>
                <a:latin typeface="Playfair Display"/>
              </a:rPr>
              <a:t>“</a:t>
            </a:r>
          </a:p>
        </p:txBody>
      </p:sp>
      <p:sp>
        <p:nvSpPr>
          <p:cNvPr id="4" name="Rectangle 3"/>
          <p:cNvSpPr/>
          <p:nvPr/>
        </p:nvSpPr>
        <p:spPr>
          <a:xfrm>
            <a:off x="0" y="0"/>
            <a:ext cx="12192000"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86000" y="3551932"/>
            <a:ext cx="7620000" cy="1462682"/>
          </a:xfrm>
          <a:prstGeom prst="rect">
            <a:avLst/>
          </a:prstGeom>
          <a:noFill/>
        </p:spPr>
        <p:txBody>
          <a:bodyPr wrap="square" lIns="0" tIns="0" rIns="0" bIns="0" anchor="t">
            <a:spAutoFit/>
          </a:bodyPr>
          <a:lstStyle/>
          <a:p>
            <a:pPr algn="ctr">
              <a:lnSpc>
                <a:spcPts val="2879"/>
              </a:lnSpc>
            </a:pPr>
            <a:r>
              <a:rPr sz="1800" b="0" i="0" u="none">
                <a:solidFill>
                  <a:srgbClr val="12301C"/>
                </a:solidFill>
                <a:latin typeface="Lato Light"/>
              </a:rPr>
              <a:t>Shantiban City is intended to grow as a thriving residential community rather than remain an isolated collection of plots. It is a place where families can build long-term neighborhood connections and share a unified, peaceful lifestyle.</a:t>
            </a:r>
          </a:p>
        </p:txBody>
      </p:sp>
      <p:sp>
        <p:nvSpPr>
          <p:cNvPr id="6" name="TextBox 5"/>
          <p:cNvSpPr txBox="1"/>
          <p:nvPr/>
        </p:nvSpPr>
        <p:spPr>
          <a:xfrm>
            <a:off x="2286000" y="1700510"/>
            <a:ext cx="7620000" cy="1279921"/>
          </a:xfrm>
          <a:prstGeom prst="rect">
            <a:avLst/>
          </a:prstGeom>
          <a:noFill/>
        </p:spPr>
        <p:txBody>
          <a:bodyPr wrap="square" lIns="0" tIns="0" rIns="0" bIns="0" anchor="t">
            <a:spAutoFit/>
          </a:bodyPr>
          <a:lstStyle/>
          <a:p>
            <a:pPr algn="ctr">
              <a:lnSpc>
                <a:spcPts val="5040"/>
              </a:lnSpc>
            </a:pPr>
            <a:r>
              <a:rPr sz="3600" b="0" i="0" u="none">
                <a:solidFill>
                  <a:srgbClr val="12301C"/>
                </a:solidFill>
                <a:latin typeface="Playfair Display"/>
              </a:rPr>
              <a:t>More than a plot.</a:t>
            </a:r>
            <a:r>
              <a:t>
</a:t>
            </a:r>
            <a:r>
              <a:rPr sz="3600" b="0" i="0" u="none">
                <a:solidFill>
                  <a:srgbClr val="12301C"/>
                </a:solidFill>
                <a:latin typeface="Playfair Display"/>
              </a:rPr>
              <a:t> A community in the making.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301C"/>
        </a:solidFill>
        <a:effectLst/>
      </p:bgPr>
    </p:bg>
    <p:spTree>
      <p:nvGrpSpPr>
        <p:cNvPr id="1" name=""/>
        <p:cNvGrpSpPr/>
        <p:nvPr/>
      </p:nvGrpSpPr>
      <p:grpSpPr>
        <a:xfrm>
          <a:off x="0" y="0"/>
          <a:ext cx="0" cy="0"/>
          <a:chOff x="0" y="0"/>
          <a:chExt cx="0" cy="0"/>
        </a:xfrm>
      </p:grpSpPr>
      <p:sp>
        <p:nvSpPr>
          <p:cNvPr id="2" name="TextBox 1"/>
          <p:cNvSpPr txBox="1"/>
          <p:nvPr/>
        </p:nvSpPr>
        <p:spPr>
          <a:xfrm>
            <a:off x="571500" y="2212627"/>
            <a:ext cx="11049000" cy="335160"/>
          </a:xfrm>
          <a:prstGeom prst="rect">
            <a:avLst/>
          </a:prstGeom>
          <a:noFill/>
        </p:spPr>
        <p:txBody>
          <a:bodyPr wrap="square" lIns="0" tIns="0" rIns="0" bIns="0" anchor="t">
            <a:spAutoFit/>
          </a:bodyPr>
          <a:lstStyle/>
          <a:p>
            <a:pPr algn="ctr">
              <a:lnSpc>
                <a:spcPts val="2640"/>
              </a:lnSpc>
            </a:pPr>
            <a:r>
              <a:rPr sz="1650" b="0" i="0" u="none">
                <a:solidFill>
                  <a:srgbClr val="FDFBF7"/>
                </a:solidFill>
                <a:latin typeface="Lato Light"/>
              </a:rPr>
              <a:t>Join a growing community of families who have already chosen Shantiban City for their future.</a:t>
            </a:r>
          </a:p>
        </p:txBody>
      </p:sp>
      <p:sp>
        <p:nvSpPr>
          <p:cNvPr id="3" name="Rectangle 2"/>
          <p:cNvSpPr/>
          <p:nvPr/>
        </p:nvSpPr>
        <p:spPr>
          <a:xfrm>
            <a:off x="6091088" y="3607891"/>
            <a:ext cx="9525" cy="1714500"/>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58813" y="3309788"/>
            <a:ext cx="2857500" cy="952500"/>
          </a:xfrm>
          <a:prstGeom prst="rect">
            <a:avLst/>
          </a:prstGeom>
          <a:noFill/>
        </p:spPr>
        <p:txBody>
          <a:bodyPr wrap="square" lIns="0" tIns="0" rIns="0" bIns="0" anchor="t">
            <a:spAutoFit/>
          </a:bodyPr>
          <a:lstStyle/>
          <a:p>
            <a:pPr algn="ctr">
              <a:lnSpc>
                <a:spcPts val="7500"/>
              </a:lnSpc>
            </a:pPr>
            <a:r>
              <a:rPr sz="7500" b="0" i="0" u="none">
                <a:solidFill>
                  <a:srgbClr val="C5A059"/>
                </a:solidFill>
                <a:latin typeface="Playfair Display"/>
              </a:rPr>
              <a:t>300+</a:t>
            </a:r>
          </a:p>
        </p:txBody>
      </p:sp>
      <p:sp>
        <p:nvSpPr>
          <p:cNvPr id="5" name="TextBox 4"/>
          <p:cNvSpPr txBox="1"/>
          <p:nvPr/>
        </p:nvSpPr>
        <p:spPr>
          <a:xfrm>
            <a:off x="1458813" y="4405163"/>
            <a:ext cx="2857500" cy="276225"/>
          </a:xfrm>
          <a:prstGeom prst="rect">
            <a:avLst/>
          </a:prstGeom>
          <a:noFill/>
        </p:spPr>
        <p:txBody>
          <a:bodyPr wrap="square" lIns="0" tIns="0" rIns="0" bIns="0" anchor="t">
            <a:spAutoFit/>
          </a:bodyPr>
          <a:lstStyle/>
          <a:p>
            <a:pPr algn="ctr"/>
            <a:r>
              <a:rPr sz="1800" b="0" i="0" u="none">
                <a:solidFill>
                  <a:srgbClr val="FDFBF7"/>
                </a:solidFill>
                <a:latin typeface="Lato"/>
              </a:rPr>
              <a:t>CUSTOMERS</a:t>
            </a:r>
          </a:p>
        </p:txBody>
      </p:sp>
      <p:sp>
        <p:nvSpPr>
          <p:cNvPr id="6" name="Rectangle 5"/>
          <p:cNvSpPr/>
          <p:nvPr/>
        </p:nvSpPr>
        <p:spPr>
          <a:xfrm>
            <a:off x="2411313" y="4871888"/>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58813" y="5071913"/>
            <a:ext cx="2857500" cy="548580"/>
          </a:xfrm>
          <a:prstGeom prst="rect">
            <a:avLst/>
          </a:prstGeom>
          <a:noFill/>
        </p:spPr>
        <p:txBody>
          <a:bodyPr wrap="square" lIns="0" tIns="0" rIns="0" bIns="0" anchor="t">
            <a:spAutoFit/>
          </a:bodyPr>
          <a:lstStyle/>
          <a:p>
            <a:pPr algn="ctr">
              <a:lnSpc>
                <a:spcPts val="2160"/>
              </a:lnSpc>
            </a:pPr>
            <a:r>
              <a:rPr sz="1350" b="0" i="0" u="none">
                <a:solidFill>
                  <a:srgbClr val="FDFBF7"/>
                </a:solidFill>
                <a:latin typeface="Lato Light"/>
              </a:rPr>
              <a:t>Have successfully completed their plot registration.</a:t>
            </a:r>
          </a:p>
        </p:txBody>
      </p:sp>
      <p:sp>
        <p:nvSpPr>
          <p:cNvPr id="8" name="TextBox 7"/>
          <p:cNvSpPr txBox="1"/>
          <p:nvPr/>
        </p:nvSpPr>
        <p:spPr>
          <a:xfrm>
            <a:off x="7875389" y="3309788"/>
            <a:ext cx="2857500" cy="952500"/>
          </a:xfrm>
          <a:prstGeom prst="rect">
            <a:avLst/>
          </a:prstGeom>
          <a:noFill/>
        </p:spPr>
        <p:txBody>
          <a:bodyPr wrap="square" lIns="0" tIns="0" rIns="0" bIns="0" anchor="t">
            <a:spAutoFit/>
          </a:bodyPr>
          <a:lstStyle/>
          <a:p>
            <a:pPr algn="ctr">
              <a:lnSpc>
                <a:spcPts val="7500"/>
              </a:lnSpc>
            </a:pPr>
            <a:r>
              <a:rPr sz="7500" b="0" i="0" u="none">
                <a:solidFill>
                  <a:srgbClr val="C5A059"/>
                </a:solidFill>
                <a:latin typeface="Playfair Display"/>
              </a:rPr>
              <a:t>~ 25</a:t>
            </a:r>
          </a:p>
        </p:txBody>
      </p:sp>
      <p:sp>
        <p:nvSpPr>
          <p:cNvPr id="9" name="TextBox 8"/>
          <p:cNvSpPr txBox="1"/>
          <p:nvPr/>
        </p:nvSpPr>
        <p:spPr>
          <a:xfrm>
            <a:off x="7875389" y="4405163"/>
            <a:ext cx="2857500" cy="276225"/>
          </a:xfrm>
          <a:prstGeom prst="rect">
            <a:avLst/>
          </a:prstGeom>
          <a:noFill/>
        </p:spPr>
        <p:txBody>
          <a:bodyPr wrap="square" lIns="0" tIns="0" rIns="0" bIns="0" anchor="t">
            <a:spAutoFit/>
          </a:bodyPr>
          <a:lstStyle/>
          <a:p>
            <a:pPr algn="ctr"/>
            <a:r>
              <a:rPr sz="1800" b="0" i="0" u="none">
                <a:solidFill>
                  <a:srgbClr val="FDFBF7"/>
                </a:solidFill>
                <a:latin typeface="Lato"/>
              </a:rPr>
              <a:t>CUSTOMERS</a:t>
            </a:r>
          </a:p>
        </p:txBody>
      </p:sp>
      <p:sp>
        <p:nvSpPr>
          <p:cNvPr id="10" name="Rectangle 9"/>
          <p:cNvSpPr/>
          <p:nvPr/>
        </p:nvSpPr>
        <p:spPr>
          <a:xfrm>
            <a:off x="8827889" y="4871888"/>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75389" y="5071913"/>
            <a:ext cx="2857500" cy="548580"/>
          </a:xfrm>
          <a:prstGeom prst="rect">
            <a:avLst/>
          </a:prstGeom>
          <a:noFill/>
        </p:spPr>
        <p:txBody>
          <a:bodyPr wrap="square" lIns="0" tIns="0" rIns="0" bIns="0" anchor="t">
            <a:spAutoFit/>
          </a:bodyPr>
          <a:lstStyle/>
          <a:p>
            <a:pPr algn="ctr">
              <a:lnSpc>
                <a:spcPts val="2160"/>
              </a:lnSpc>
            </a:pPr>
            <a:r>
              <a:rPr sz="1350" b="0" i="0" u="none">
                <a:solidFill>
                  <a:srgbClr val="FDFBF7"/>
                </a:solidFill>
                <a:latin typeface="Lato Light"/>
              </a:rPr>
              <a:t>Have been assisted with plot identification and boundary work.</a:t>
            </a:r>
          </a:p>
        </p:txBody>
      </p:sp>
      <p:sp>
        <p:nvSpPr>
          <p:cNvPr id="12" name="TextBox 11"/>
          <p:cNvSpPr txBox="1"/>
          <p:nvPr/>
        </p:nvSpPr>
        <p:spPr>
          <a:xfrm>
            <a:off x="295275" y="571500"/>
            <a:ext cx="11601450" cy="594270"/>
          </a:xfrm>
          <a:prstGeom prst="rect">
            <a:avLst/>
          </a:prstGeom>
          <a:noFill/>
        </p:spPr>
        <p:txBody>
          <a:bodyPr wrap="square" lIns="0" tIns="0" rIns="0" bIns="0" anchor="t">
            <a:spAutoFit/>
          </a:bodyPr>
          <a:lstStyle/>
          <a:p>
            <a:pPr algn="ctr">
              <a:lnSpc>
                <a:spcPts val="4680"/>
              </a:lnSpc>
            </a:pPr>
            <a:r>
              <a:rPr sz="3900" b="0" i="0" u="none">
                <a:solidFill>
                  <a:srgbClr val="FDFBF7"/>
                </a:solidFill>
                <a:latin typeface="Playfair Display"/>
              </a:rPr>
              <a:t>Project </a:t>
            </a:r>
            <a:r>
              <a:rPr sz="3900" b="0" i="0" u="none">
                <a:solidFill>
                  <a:srgbClr val="C5A059"/>
                </a:solidFill>
                <a:latin typeface="Playfair Display"/>
              </a:rPr>
              <a:t>Progress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E2D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119312"/>
            <a:ext cx="3524250" cy="1678185"/>
          </a:xfrm>
          <a:prstGeom prst="rect">
            <a:avLst/>
          </a:prstGeom>
        </p:spPr>
      </p:pic>
      <p:pic>
        <p:nvPicPr>
          <p:cNvPr id="3" name="Picture 2" descr="image.png"/>
          <p:cNvPicPr>
            <a:picLocks noChangeAspect="1"/>
          </p:cNvPicPr>
          <p:nvPr/>
        </p:nvPicPr>
        <p:blipFill>
          <a:blip r:embed="rId2"/>
          <a:stretch>
            <a:fillRect/>
          </a:stretch>
        </p:blipFill>
        <p:spPr>
          <a:xfrm>
            <a:off x="4333875" y="2119312"/>
            <a:ext cx="3524250" cy="1678185"/>
          </a:xfrm>
          <a:prstGeom prst="rect">
            <a:avLst/>
          </a:prstGeom>
        </p:spPr>
      </p:pic>
      <p:pic>
        <p:nvPicPr>
          <p:cNvPr id="4" name="Picture 3" descr="image.png"/>
          <p:cNvPicPr>
            <a:picLocks noChangeAspect="1"/>
          </p:cNvPicPr>
          <p:nvPr/>
        </p:nvPicPr>
        <p:blipFill>
          <a:blip r:embed="rId2"/>
          <a:stretch>
            <a:fillRect/>
          </a:stretch>
        </p:blipFill>
        <p:spPr>
          <a:xfrm>
            <a:off x="8096250" y="2119312"/>
            <a:ext cx="3524250" cy="1678185"/>
          </a:xfrm>
          <a:prstGeom prst="rect">
            <a:avLst/>
          </a:prstGeom>
        </p:spPr>
      </p:pic>
      <p:pic>
        <p:nvPicPr>
          <p:cNvPr id="5" name="Picture 4" descr="image.png"/>
          <p:cNvPicPr>
            <a:picLocks noChangeAspect="1"/>
          </p:cNvPicPr>
          <p:nvPr/>
        </p:nvPicPr>
        <p:blipFill>
          <a:blip r:embed="rId2"/>
          <a:stretch>
            <a:fillRect/>
          </a:stretch>
        </p:blipFill>
        <p:spPr>
          <a:xfrm>
            <a:off x="571500" y="4035623"/>
            <a:ext cx="3524250" cy="1678185"/>
          </a:xfrm>
          <a:prstGeom prst="rect">
            <a:avLst/>
          </a:prstGeom>
        </p:spPr>
      </p:pic>
      <p:pic>
        <p:nvPicPr>
          <p:cNvPr id="6" name="Picture 5" descr="image.png"/>
          <p:cNvPicPr>
            <a:picLocks noChangeAspect="1"/>
          </p:cNvPicPr>
          <p:nvPr/>
        </p:nvPicPr>
        <p:blipFill>
          <a:blip r:embed="rId2"/>
          <a:stretch>
            <a:fillRect/>
          </a:stretch>
        </p:blipFill>
        <p:spPr>
          <a:xfrm>
            <a:off x="4333875" y="4035623"/>
            <a:ext cx="3524250" cy="1678185"/>
          </a:xfrm>
          <a:prstGeom prst="rect">
            <a:avLst/>
          </a:prstGeom>
        </p:spPr>
      </p:pic>
      <p:pic>
        <p:nvPicPr>
          <p:cNvPr id="7" name="Picture 6" descr="image.png"/>
          <p:cNvPicPr>
            <a:picLocks noChangeAspect="1"/>
          </p:cNvPicPr>
          <p:nvPr/>
        </p:nvPicPr>
        <p:blipFill>
          <a:blip r:embed="rId2"/>
          <a:stretch>
            <a:fillRect/>
          </a:stretch>
        </p:blipFill>
        <p:spPr>
          <a:xfrm>
            <a:off x="8096250" y="4035623"/>
            <a:ext cx="3524250" cy="1678185"/>
          </a:xfrm>
          <a:prstGeom prst="rect">
            <a:avLst/>
          </a:prstGeom>
        </p:spPr>
      </p:pic>
      <p:sp>
        <p:nvSpPr>
          <p:cNvPr id="8" name="TextBox 7"/>
          <p:cNvSpPr txBox="1"/>
          <p:nvPr/>
        </p:nvSpPr>
        <p:spPr>
          <a:xfrm>
            <a:off x="885825" y="2405062"/>
            <a:ext cx="3070383" cy="285750"/>
          </a:xfrm>
          <a:prstGeom prst="rect">
            <a:avLst/>
          </a:prstGeom>
          <a:noFill/>
        </p:spPr>
        <p:txBody>
          <a:bodyPr wrap="square" lIns="0" tIns="0" rIns="0" bIns="0" anchor="t">
            <a:spAutoFit/>
          </a:bodyPr>
          <a:lstStyle/>
          <a:p>
            <a:pPr algn="l"/>
            <a:r>
              <a:rPr sz="1650" b="0" i="0" u="none">
                <a:solidFill>
                  <a:srgbClr val="12301C"/>
                </a:solidFill>
                <a:latin typeface="Playfair Display"/>
              </a:rPr>
              <a:t>Ownership</a:t>
            </a:r>
          </a:p>
        </p:txBody>
      </p:sp>
      <p:sp>
        <p:nvSpPr>
          <p:cNvPr id="9" name="TextBox 8"/>
          <p:cNvSpPr txBox="1"/>
          <p:nvPr/>
        </p:nvSpPr>
        <p:spPr>
          <a:xfrm>
            <a:off x="885825" y="2881312"/>
            <a:ext cx="2924175" cy="243780"/>
          </a:xfrm>
          <a:prstGeom prst="rect">
            <a:avLst/>
          </a:prstGeom>
          <a:noFill/>
        </p:spPr>
        <p:txBody>
          <a:bodyPr wrap="square" lIns="0" tIns="0" rIns="0" bIns="0" anchor="t">
            <a:spAutoFit/>
          </a:bodyPr>
          <a:lstStyle/>
          <a:p>
            <a:pPr algn="l">
              <a:lnSpc>
                <a:spcPts val="1920"/>
              </a:lnSpc>
            </a:pPr>
            <a:r>
              <a:rPr sz="1200" b="0" i="0" u="none">
                <a:solidFill>
                  <a:srgbClr val="12301C"/>
                </a:solidFill>
                <a:latin typeface="Lato Light"/>
              </a:rPr>
              <a:t>Own your own piece of land.</a:t>
            </a:r>
          </a:p>
        </p:txBody>
      </p:sp>
      <p:sp>
        <p:nvSpPr>
          <p:cNvPr id="10" name="TextBox 9"/>
          <p:cNvSpPr txBox="1"/>
          <p:nvPr/>
        </p:nvSpPr>
        <p:spPr>
          <a:xfrm>
            <a:off x="4648200" y="2405062"/>
            <a:ext cx="3070383" cy="285750"/>
          </a:xfrm>
          <a:prstGeom prst="rect">
            <a:avLst/>
          </a:prstGeom>
          <a:noFill/>
        </p:spPr>
        <p:txBody>
          <a:bodyPr wrap="square" lIns="0" tIns="0" rIns="0" bIns="0" anchor="t">
            <a:spAutoFit/>
          </a:bodyPr>
          <a:lstStyle/>
          <a:p>
            <a:pPr algn="l"/>
            <a:r>
              <a:rPr sz="1650" b="0" i="0" u="none">
                <a:solidFill>
                  <a:srgbClr val="12301C"/>
                </a:solidFill>
                <a:latin typeface="Playfair Display"/>
              </a:rPr>
              <a:t>Personalization</a:t>
            </a:r>
          </a:p>
        </p:txBody>
      </p:sp>
      <p:sp>
        <p:nvSpPr>
          <p:cNvPr id="11" name="TextBox 10"/>
          <p:cNvSpPr txBox="1"/>
          <p:nvPr/>
        </p:nvSpPr>
        <p:spPr>
          <a:xfrm>
            <a:off x="4648200" y="2881312"/>
            <a:ext cx="2924175" cy="243780"/>
          </a:xfrm>
          <a:prstGeom prst="rect">
            <a:avLst/>
          </a:prstGeom>
          <a:noFill/>
        </p:spPr>
        <p:txBody>
          <a:bodyPr wrap="square" lIns="0" tIns="0" rIns="0" bIns="0" anchor="t">
            <a:spAutoFit/>
          </a:bodyPr>
          <a:lstStyle/>
          <a:p>
            <a:pPr algn="l">
              <a:lnSpc>
                <a:spcPts val="1920"/>
              </a:lnSpc>
            </a:pPr>
            <a:r>
              <a:rPr sz="1200" b="0" i="0" u="none">
                <a:solidFill>
                  <a:srgbClr val="12301C"/>
                </a:solidFill>
                <a:latin typeface="Lato Light"/>
              </a:rPr>
              <a:t>Build a home around your own lifestyle.</a:t>
            </a:r>
          </a:p>
        </p:txBody>
      </p:sp>
      <p:sp>
        <p:nvSpPr>
          <p:cNvPr id="12" name="TextBox 11"/>
          <p:cNvSpPr txBox="1"/>
          <p:nvPr/>
        </p:nvSpPr>
        <p:spPr>
          <a:xfrm>
            <a:off x="8410575" y="2405062"/>
            <a:ext cx="3070383" cy="285750"/>
          </a:xfrm>
          <a:prstGeom prst="rect">
            <a:avLst/>
          </a:prstGeom>
          <a:noFill/>
        </p:spPr>
        <p:txBody>
          <a:bodyPr wrap="square" lIns="0" tIns="0" rIns="0" bIns="0" anchor="t">
            <a:spAutoFit/>
          </a:bodyPr>
          <a:lstStyle/>
          <a:p>
            <a:pPr algn="l"/>
            <a:r>
              <a:rPr sz="1650" b="0" i="0" u="none">
                <a:solidFill>
                  <a:srgbClr val="12301C"/>
                </a:solidFill>
                <a:latin typeface="Playfair Display"/>
              </a:rPr>
              <a:t>Peace</a:t>
            </a:r>
          </a:p>
        </p:txBody>
      </p:sp>
      <p:sp>
        <p:nvSpPr>
          <p:cNvPr id="13" name="TextBox 12"/>
          <p:cNvSpPr txBox="1"/>
          <p:nvPr/>
        </p:nvSpPr>
        <p:spPr>
          <a:xfrm>
            <a:off x="8410575" y="2881312"/>
            <a:ext cx="2924175" cy="487560"/>
          </a:xfrm>
          <a:prstGeom prst="rect">
            <a:avLst/>
          </a:prstGeom>
          <a:noFill/>
        </p:spPr>
        <p:txBody>
          <a:bodyPr wrap="square" lIns="0" tIns="0" rIns="0" bIns="0" anchor="t">
            <a:spAutoFit/>
          </a:bodyPr>
          <a:lstStyle/>
          <a:p>
            <a:pPr algn="l">
              <a:lnSpc>
                <a:spcPts val="1920"/>
              </a:lnSpc>
            </a:pPr>
            <a:r>
              <a:rPr sz="1200" b="0" i="0" u="none">
                <a:solidFill>
                  <a:srgbClr val="12301C"/>
                </a:solidFill>
                <a:latin typeface="Lato Light"/>
              </a:rPr>
              <a:t>A calm and naturally pleasant residential environment.</a:t>
            </a:r>
          </a:p>
        </p:txBody>
      </p:sp>
      <p:sp>
        <p:nvSpPr>
          <p:cNvPr id="14" name="TextBox 13"/>
          <p:cNvSpPr txBox="1"/>
          <p:nvPr/>
        </p:nvSpPr>
        <p:spPr>
          <a:xfrm>
            <a:off x="885825" y="4321373"/>
            <a:ext cx="3070383" cy="285750"/>
          </a:xfrm>
          <a:prstGeom prst="rect">
            <a:avLst/>
          </a:prstGeom>
          <a:noFill/>
        </p:spPr>
        <p:txBody>
          <a:bodyPr wrap="square" lIns="0" tIns="0" rIns="0" bIns="0" anchor="t">
            <a:spAutoFit/>
          </a:bodyPr>
          <a:lstStyle/>
          <a:p>
            <a:pPr algn="l"/>
            <a:r>
              <a:rPr sz="1650" b="0" i="0" u="none">
                <a:solidFill>
                  <a:srgbClr val="12301C"/>
                </a:solidFill>
                <a:latin typeface="Playfair Display"/>
              </a:rPr>
              <a:t>Connectivity</a:t>
            </a:r>
          </a:p>
        </p:txBody>
      </p:sp>
      <p:sp>
        <p:nvSpPr>
          <p:cNvPr id="15" name="TextBox 14"/>
          <p:cNvSpPr txBox="1"/>
          <p:nvPr/>
        </p:nvSpPr>
        <p:spPr>
          <a:xfrm>
            <a:off x="885825" y="4797623"/>
            <a:ext cx="2924175" cy="487560"/>
          </a:xfrm>
          <a:prstGeom prst="rect">
            <a:avLst/>
          </a:prstGeom>
          <a:noFill/>
        </p:spPr>
        <p:txBody>
          <a:bodyPr wrap="square" lIns="0" tIns="0" rIns="0" bIns="0" anchor="t">
            <a:spAutoFit/>
          </a:bodyPr>
          <a:lstStyle/>
          <a:p>
            <a:pPr algn="l">
              <a:lnSpc>
                <a:spcPts val="1920"/>
              </a:lnSpc>
            </a:pPr>
            <a:r>
              <a:rPr sz="1200" b="0" i="0" u="none">
                <a:solidFill>
                  <a:srgbClr val="12301C"/>
                </a:solidFill>
                <a:latin typeface="Lato Light"/>
              </a:rPr>
              <a:t>Access to Baruipur and surrounding urban areas.</a:t>
            </a:r>
          </a:p>
        </p:txBody>
      </p:sp>
      <p:sp>
        <p:nvSpPr>
          <p:cNvPr id="16" name="TextBox 15"/>
          <p:cNvSpPr txBox="1"/>
          <p:nvPr/>
        </p:nvSpPr>
        <p:spPr>
          <a:xfrm>
            <a:off x="4648200" y="4321373"/>
            <a:ext cx="3070383" cy="285750"/>
          </a:xfrm>
          <a:prstGeom prst="rect">
            <a:avLst/>
          </a:prstGeom>
          <a:noFill/>
        </p:spPr>
        <p:txBody>
          <a:bodyPr wrap="square" lIns="0" tIns="0" rIns="0" bIns="0" anchor="t">
            <a:spAutoFit/>
          </a:bodyPr>
          <a:lstStyle/>
          <a:p>
            <a:pPr algn="l"/>
            <a:r>
              <a:rPr sz="1650" b="0" i="0" u="none">
                <a:solidFill>
                  <a:srgbClr val="12301C"/>
                </a:solidFill>
                <a:latin typeface="Playfair Display"/>
              </a:rPr>
              <a:t>Convenience</a:t>
            </a:r>
          </a:p>
        </p:txBody>
      </p:sp>
      <p:sp>
        <p:nvSpPr>
          <p:cNvPr id="17" name="TextBox 16"/>
          <p:cNvSpPr txBox="1"/>
          <p:nvPr/>
        </p:nvSpPr>
        <p:spPr>
          <a:xfrm>
            <a:off x="4648200" y="4797623"/>
            <a:ext cx="2924175" cy="487560"/>
          </a:xfrm>
          <a:prstGeom prst="rect">
            <a:avLst/>
          </a:prstGeom>
          <a:noFill/>
        </p:spPr>
        <p:txBody>
          <a:bodyPr wrap="square" lIns="0" tIns="0" rIns="0" bIns="0" anchor="t">
            <a:spAutoFit/>
          </a:bodyPr>
          <a:lstStyle/>
          <a:p>
            <a:pPr algn="l">
              <a:lnSpc>
                <a:spcPts val="1920"/>
              </a:lnSpc>
            </a:pPr>
            <a:r>
              <a:rPr sz="1200" b="0" i="0" u="none">
                <a:solidFill>
                  <a:srgbClr val="12301C"/>
                </a:solidFill>
                <a:latin typeface="Lato Light"/>
              </a:rPr>
              <a:t>Nearby market, school, hospital and transport.</a:t>
            </a:r>
          </a:p>
        </p:txBody>
      </p:sp>
      <p:sp>
        <p:nvSpPr>
          <p:cNvPr id="18" name="TextBox 17"/>
          <p:cNvSpPr txBox="1"/>
          <p:nvPr/>
        </p:nvSpPr>
        <p:spPr>
          <a:xfrm>
            <a:off x="8410575" y="4321373"/>
            <a:ext cx="3070383" cy="285750"/>
          </a:xfrm>
          <a:prstGeom prst="rect">
            <a:avLst/>
          </a:prstGeom>
          <a:noFill/>
        </p:spPr>
        <p:txBody>
          <a:bodyPr wrap="square" lIns="0" tIns="0" rIns="0" bIns="0" anchor="t">
            <a:spAutoFit/>
          </a:bodyPr>
          <a:lstStyle/>
          <a:p>
            <a:pPr algn="l"/>
            <a:r>
              <a:rPr sz="1650" b="0" i="0" u="none">
                <a:solidFill>
                  <a:srgbClr val="12301C"/>
                </a:solidFill>
                <a:latin typeface="Playfair Display"/>
              </a:rPr>
              <a:t>Long-Term Vision</a:t>
            </a:r>
          </a:p>
        </p:txBody>
      </p:sp>
      <p:sp>
        <p:nvSpPr>
          <p:cNvPr id="19" name="TextBox 18"/>
          <p:cNvSpPr txBox="1"/>
          <p:nvPr/>
        </p:nvSpPr>
        <p:spPr>
          <a:xfrm>
            <a:off x="8410575" y="4797623"/>
            <a:ext cx="2924175" cy="487560"/>
          </a:xfrm>
          <a:prstGeom prst="rect">
            <a:avLst/>
          </a:prstGeom>
          <a:noFill/>
        </p:spPr>
        <p:txBody>
          <a:bodyPr wrap="square" lIns="0" tIns="0" rIns="0" bIns="0" anchor="t">
            <a:spAutoFit/>
          </a:bodyPr>
          <a:lstStyle/>
          <a:p>
            <a:pPr algn="l">
              <a:lnSpc>
                <a:spcPts val="1920"/>
              </a:lnSpc>
            </a:pPr>
            <a:r>
              <a:rPr sz="1200" b="0" i="0" u="none">
                <a:solidFill>
                  <a:srgbClr val="12301C"/>
                </a:solidFill>
                <a:latin typeface="Lato Light"/>
              </a:rPr>
              <a:t>A developing residential community designed to grow.</a:t>
            </a:r>
          </a:p>
        </p:txBody>
      </p:sp>
      <p:sp>
        <p:nvSpPr>
          <p:cNvPr id="20" name="TextBox 19"/>
          <p:cNvSpPr txBox="1"/>
          <p:nvPr/>
        </p:nvSpPr>
        <p:spPr>
          <a:xfrm>
            <a:off x="295275" y="571500"/>
            <a:ext cx="11601450" cy="594270"/>
          </a:xfrm>
          <a:prstGeom prst="rect">
            <a:avLst/>
          </a:prstGeom>
          <a:noFill/>
        </p:spPr>
        <p:txBody>
          <a:bodyPr wrap="square" lIns="0" tIns="0" rIns="0" bIns="0" anchor="t">
            <a:spAutoFit/>
          </a:bodyPr>
          <a:lstStyle/>
          <a:p>
            <a:pPr algn="ctr">
              <a:lnSpc>
                <a:spcPts val="4680"/>
              </a:lnSpc>
            </a:pPr>
            <a:r>
              <a:rPr sz="3900" b="0" i="0" u="none">
                <a:solidFill>
                  <a:srgbClr val="12301C"/>
                </a:solidFill>
                <a:latin typeface="Playfair Display"/>
              </a:rPr>
              <a:t>Why Choose </a:t>
            </a:r>
            <a:r>
              <a:rPr sz="3900" b="0" i="0" u="none">
                <a:solidFill>
                  <a:srgbClr val="C5A059"/>
                </a:solidFill>
                <a:latin typeface="Playfair Display"/>
              </a:rPr>
              <a:t>Shantiban City?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TextBox 1"/>
          <p:cNvSpPr txBox="1"/>
          <p:nvPr/>
        </p:nvSpPr>
        <p:spPr>
          <a:xfrm>
            <a:off x="571500" y="6348412"/>
            <a:ext cx="11049000" cy="274290"/>
          </a:xfrm>
          <a:prstGeom prst="rect">
            <a:avLst/>
          </a:prstGeom>
          <a:noFill/>
        </p:spPr>
        <p:txBody>
          <a:bodyPr wrap="square" lIns="0" tIns="0" rIns="0" bIns="0" anchor="t">
            <a:spAutoFit/>
          </a:bodyPr>
          <a:lstStyle/>
          <a:p>
            <a:pPr algn="ctr">
              <a:lnSpc>
                <a:spcPts val="2160"/>
              </a:lnSpc>
            </a:pPr>
            <a:r>
              <a:rPr sz="1350" b="1" i="0" u="none">
                <a:solidFill>
                  <a:srgbClr val="C5A059"/>
                </a:solidFill>
                <a:latin typeface="Lato"/>
              </a:rPr>
              <a:t>VISION   •   FAMILY   •   MEMORIES</a:t>
            </a:r>
          </a:p>
        </p:txBody>
      </p:sp>
      <p:sp>
        <p:nvSpPr>
          <p:cNvPr id="3" name="TextBox 2"/>
          <p:cNvSpPr txBox="1"/>
          <p:nvPr/>
        </p:nvSpPr>
        <p:spPr>
          <a:xfrm>
            <a:off x="438150" y="5472112"/>
            <a:ext cx="5600700" cy="304800"/>
          </a:xfrm>
          <a:prstGeom prst="rect">
            <a:avLst/>
          </a:prstGeom>
          <a:noFill/>
        </p:spPr>
        <p:txBody>
          <a:bodyPr wrap="square" lIns="0" tIns="0" rIns="0" bIns="0" anchor="t">
            <a:spAutoFit/>
          </a:bodyPr>
          <a:lstStyle/>
          <a:p>
            <a:pPr algn="ctr"/>
            <a:r>
              <a:rPr sz="1800" b="0" i="0" u="none">
                <a:solidFill>
                  <a:srgbClr val="12301C"/>
                </a:solidFill>
                <a:latin typeface="Playfair Display"/>
              </a:rPr>
              <a:t>YOUR LAND</a:t>
            </a:r>
          </a:p>
        </p:txBody>
      </p:sp>
      <p:sp>
        <p:nvSpPr>
          <p:cNvPr id="4" name="TextBox 3"/>
          <p:cNvSpPr txBox="1"/>
          <p:nvPr/>
        </p:nvSpPr>
        <p:spPr>
          <a:xfrm>
            <a:off x="6153150" y="5472112"/>
            <a:ext cx="5600700" cy="304800"/>
          </a:xfrm>
          <a:prstGeom prst="rect">
            <a:avLst/>
          </a:prstGeom>
          <a:noFill/>
        </p:spPr>
        <p:txBody>
          <a:bodyPr wrap="square" lIns="0" tIns="0" rIns="0" bIns="0" anchor="t">
            <a:spAutoFit/>
          </a:bodyPr>
          <a:lstStyle/>
          <a:p>
            <a:pPr algn="ctr"/>
            <a:r>
              <a:rPr sz="1800" b="0" i="0" u="none">
                <a:solidFill>
                  <a:srgbClr val="12301C"/>
                </a:solidFill>
                <a:latin typeface="Playfair Display"/>
              </a:rPr>
              <a:t>YOUR HOME</a:t>
            </a:r>
          </a:p>
        </p:txBody>
      </p:sp>
      <p:pic>
        <p:nvPicPr>
          <p:cNvPr id="5" name="Picture 4" descr="image.png"/>
          <p:cNvPicPr>
            <a:picLocks noChangeAspect="1"/>
          </p:cNvPicPr>
          <p:nvPr/>
        </p:nvPicPr>
        <p:blipFill>
          <a:blip r:embed="rId2"/>
          <a:stretch>
            <a:fillRect/>
          </a:stretch>
        </p:blipFill>
        <p:spPr>
          <a:xfrm>
            <a:off x="571500" y="1852612"/>
            <a:ext cx="5334000" cy="3333750"/>
          </a:xfrm>
          <a:prstGeom prst="rect">
            <a:avLst/>
          </a:prstGeom>
        </p:spPr>
      </p:pic>
      <p:pic>
        <p:nvPicPr>
          <p:cNvPr id="6" name="Picture 5" descr="image.png"/>
          <p:cNvPicPr>
            <a:picLocks noChangeAspect="1"/>
          </p:cNvPicPr>
          <p:nvPr/>
        </p:nvPicPr>
        <p:blipFill>
          <a:blip r:embed="rId3"/>
          <a:stretch>
            <a:fillRect/>
          </a:stretch>
        </p:blipFill>
        <p:spPr>
          <a:xfrm>
            <a:off x="6286500" y="1852612"/>
            <a:ext cx="5334000" cy="3333750"/>
          </a:xfrm>
          <a:prstGeom prst="rect">
            <a:avLst/>
          </a:prstGeom>
        </p:spPr>
      </p:pic>
      <p:sp>
        <p:nvSpPr>
          <p:cNvPr id="7" name="TextBox 6"/>
          <p:cNvSpPr txBox="1"/>
          <p:nvPr/>
        </p:nvSpPr>
        <p:spPr>
          <a:xfrm>
            <a:off x="295275" y="92571"/>
            <a:ext cx="11601450" cy="1188541"/>
          </a:xfrm>
          <a:prstGeom prst="rect">
            <a:avLst/>
          </a:prstGeom>
          <a:noFill/>
        </p:spPr>
        <p:txBody>
          <a:bodyPr wrap="square" lIns="0" tIns="0" rIns="0" bIns="0" anchor="t">
            <a:spAutoFit/>
          </a:bodyPr>
          <a:lstStyle/>
          <a:p>
            <a:pPr algn="ctr">
              <a:lnSpc>
                <a:spcPts val="4680"/>
              </a:lnSpc>
            </a:pPr>
            <a:r>
              <a:rPr sz="3900" b="0" i="0" u="none">
                <a:solidFill>
                  <a:srgbClr val="12301C"/>
                </a:solidFill>
                <a:latin typeface="Playfair Display"/>
              </a:rPr>
              <a:t>A plot is not the final destination.</a:t>
            </a:r>
            <a:r>
              <a:t>
</a:t>
            </a:r>
            <a:r>
              <a:rPr sz="3900" b="0" i="0" u="none">
                <a:solidFill>
                  <a:srgbClr val="C5A059"/>
                </a:solidFill>
                <a:latin typeface="Playfair Display"/>
              </a:rPr>
              <a:t>It is the beginning.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301C"/>
        </a:solidFill>
        <a:effectLst/>
      </p:bgPr>
    </p:bg>
    <p:spTree>
      <p:nvGrpSpPr>
        <p:cNvPr id="1" name=""/>
        <p:cNvGrpSpPr/>
        <p:nvPr/>
      </p:nvGrpSpPr>
      <p:grpSpPr>
        <a:xfrm>
          <a:off x="0" y="0"/>
          <a:ext cx="0" cy="0"/>
          <a:chOff x="0" y="0"/>
          <a:chExt cx="0" cy="0"/>
        </a:xfrm>
      </p:grpSpPr>
      <p:sp>
        <p:nvSpPr>
          <p:cNvPr id="2" name="TextBox 1"/>
          <p:cNvSpPr txBox="1"/>
          <p:nvPr/>
        </p:nvSpPr>
        <p:spPr>
          <a:xfrm>
            <a:off x="3361134" y="1236464"/>
            <a:ext cx="1850231" cy="257175"/>
          </a:xfrm>
          <a:prstGeom prst="rect">
            <a:avLst/>
          </a:prstGeom>
          <a:noFill/>
        </p:spPr>
        <p:txBody>
          <a:bodyPr wrap="square" lIns="0" tIns="0" rIns="0" bIns="0" anchor="t">
            <a:spAutoFit/>
          </a:bodyPr>
          <a:lstStyle/>
          <a:p>
            <a:pPr algn="ctr"/>
            <a:r>
              <a:rPr sz="1500" b="0" i="0" u="none">
                <a:solidFill>
                  <a:srgbClr val="C5A059"/>
                </a:solidFill>
                <a:latin typeface="Playfair Display"/>
              </a:rPr>
              <a:t>THE DEVELOPER</a:t>
            </a:r>
          </a:p>
        </p:txBody>
      </p:sp>
      <p:sp>
        <p:nvSpPr>
          <p:cNvPr id="3" name="TextBox 2"/>
          <p:cNvSpPr txBox="1"/>
          <p:nvPr/>
        </p:nvSpPr>
        <p:spPr>
          <a:xfrm>
            <a:off x="1560909" y="1684139"/>
            <a:ext cx="5450681" cy="1279921"/>
          </a:xfrm>
          <a:prstGeom prst="rect">
            <a:avLst/>
          </a:prstGeom>
          <a:noFill/>
        </p:spPr>
        <p:txBody>
          <a:bodyPr wrap="square" lIns="0" tIns="0" rIns="0" bIns="0" anchor="t">
            <a:spAutoFit/>
          </a:bodyPr>
          <a:lstStyle/>
          <a:p>
            <a:pPr algn="ctr">
              <a:lnSpc>
                <a:spcPts val="5040"/>
              </a:lnSpc>
            </a:pPr>
            <a:r>
              <a:rPr sz="4200" b="0" i="0" u="none">
                <a:solidFill>
                  <a:srgbClr val="FDFBF7"/>
                </a:solidFill>
                <a:latin typeface="Playfair Display"/>
              </a:rPr>
              <a:t>MRITYIKA REALTERS</a:t>
            </a:r>
            <a:r>
              <a:t>
</a:t>
            </a:r>
            <a:r>
              <a:rPr sz="4200" b="0" i="0" u="none">
                <a:solidFill>
                  <a:srgbClr val="FDFBF7"/>
                </a:solidFill>
                <a:latin typeface="Playfair Display Light"/>
              </a:rPr>
              <a:t>OPC PRIVATE LIMITED</a:t>
            </a:r>
          </a:p>
        </p:txBody>
      </p:sp>
      <p:sp>
        <p:nvSpPr>
          <p:cNvPr id="4" name="Rectangle 3"/>
          <p:cNvSpPr/>
          <p:nvPr/>
        </p:nvSpPr>
        <p:spPr>
          <a:xfrm>
            <a:off x="3810000" y="3630810"/>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71500" y="4116585"/>
            <a:ext cx="7100316" cy="579582"/>
          </a:xfrm>
          <a:prstGeom prst="rect">
            <a:avLst/>
          </a:prstGeom>
          <a:noFill/>
        </p:spPr>
        <p:txBody>
          <a:bodyPr wrap="square" lIns="0" tIns="0" rIns="0" bIns="0" anchor="t">
            <a:spAutoFit/>
          </a:bodyPr>
          <a:lstStyle/>
          <a:p>
            <a:pPr algn="ctr">
              <a:lnSpc>
                <a:spcPts val="2400"/>
              </a:lnSpc>
            </a:pPr>
            <a:r>
              <a:rPr sz="1500" b="0" i="0" u="none" dirty="0">
                <a:solidFill>
                  <a:srgbClr val="FDFBF7"/>
                </a:solidFill>
                <a:latin typeface="Lato Light"/>
              </a:rPr>
              <a:t>Committed to creating structured, accessible, and community-driven land ownership opportunities in South 24 Parganas.</a:t>
            </a:r>
          </a:p>
        </p:txBody>
      </p:sp>
      <p:sp>
        <p:nvSpPr>
          <p:cNvPr id="6" name="TextBox 5"/>
          <p:cNvSpPr txBox="1"/>
          <p:nvPr/>
        </p:nvSpPr>
        <p:spPr>
          <a:xfrm>
            <a:off x="571500" y="4869060"/>
            <a:ext cx="6926580" cy="579582"/>
          </a:xfrm>
          <a:prstGeom prst="rect">
            <a:avLst/>
          </a:prstGeom>
          <a:noFill/>
        </p:spPr>
        <p:txBody>
          <a:bodyPr wrap="square" lIns="0" tIns="0" rIns="0" bIns="0" anchor="t">
            <a:spAutoFit/>
          </a:bodyPr>
          <a:lstStyle/>
          <a:p>
            <a:pPr algn="ctr">
              <a:lnSpc>
                <a:spcPts val="2400"/>
              </a:lnSpc>
            </a:pPr>
            <a:r>
              <a:rPr sz="1500" b="0" i="0" u="none" dirty="0">
                <a:solidFill>
                  <a:srgbClr val="FDFBF7"/>
                </a:solidFill>
                <a:latin typeface="Lato Light"/>
              </a:rPr>
              <a:t>Our focus is on laying the foundational infrastructure for Shantiban City, ensuring a secure environment where families can confidently invest in their future.</a:t>
            </a:r>
          </a:p>
        </p:txBody>
      </p:sp>
      <p:pic>
        <p:nvPicPr>
          <p:cNvPr id="8" name="Picture 7">
            <a:extLst>
              <a:ext uri="{FF2B5EF4-FFF2-40B4-BE49-F238E27FC236}">
                <a16:creationId xmlns:a16="http://schemas.microsoft.com/office/drawing/2014/main" id="{AA8FBE27-DF93-FBF0-8DD9-0F267B676238}"/>
              </a:ext>
            </a:extLst>
          </p:cNvPr>
          <p:cNvPicPr>
            <a:picLocks noChangeAspect="1"/>
          </p:cNvPicPr>
          <p:nvPr/>
        </p:nvPicPr>
        <p:blipFill>
          <a:blip r:embed="rId2"/>
          <a:stretch>
            <a:fillRect/>
          </a:stretch>
        </p:blipFill>
        <p:spPr>
          <a:xfrm>
            <a:off x="7872984" y="0"/>
            <a:ext cx="4319016"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E2D4"/>
        </a:solidFill>
        <a:effectLst/>
      </p:bgPr>
    </p:bg>
    <p:spTree>
      <p:nvGrpSpPr>
        <p:cNvPr id="1" name=""/>
        <p:cNvGrpSpPr/>
        <p:nvPr/>
      </p:nvGrpSpPr>
      <p:grpSpPr>
        <a:xfrm>
          <a:off x="0" y="0"/>
          <a:ext cx="0" cy="0"/>
          <a:chOff x="0" y="0"/>
          <a:chExt cx="0" cy="0"/>
        </a:xfrm>
      </p:grpSpPr>
      <p:sp>
        <p:nvSpPr>
          <p:cNvPr id="2" name="TextBox 1"/>
          <p:cNvSpPr txBox="1"/>
          <p:nvPr/>
        </p:nvSpPr>
        <p:spPr>
          <a:xfrm>
            <a:off x="2586037" y="1623119"/>
            <a:ext cx="3400425" cy="257175"/>
          </a:xfrm>
          <a:prstGeom prst="rect">
            <a:avLst/>
          </a:prstGeom>
          <a:noFill/>
        </p:spPr>
        <p:txBody>
          <a:bodyPr wrap="square" lIns="0" tIns="0" rIns="0" bIns="0" anchor="t">
            <a:spAutoFit/>
          </a:bodyPr>
          <a:lstStyle/>
          <a:p>
            <a:pPr algn="ctr"/>
            <a:r>
              <a:rPr sz="1500" b="0" i="0" u="none">
                <a:solidFill>
                  <a:srgbClr val="C5A059"/>
                </a:solidFill>
                <a:latin typeface="Playfair Display"/>
              </a:rPr>
              <a:t>STRATEGIC GROWTH PARTNER</a:t>
            </a:r>
          </a:p>
        </p:txBody>
      </p:sp>
      <p:sp>
        <p:nvSpPr>
          <p:cNvPr id="3" name="TextBox 2"/>
          <p:cNvSpPr txBox="1"/>
          <p:nvPr/>
        </p:nvSpPr>
        <p:spPr>
          <a:xfrm>
            <a:off x="2095976" y="2070794"/>
            <a:ext cx="4380547" cy="914400"/>
          </a:xfrm>
          <a:prstGeom prst="rect">
            <a:avLst/>
          </a:prstGeom>
          <a:noFill/>
        </p:spPr>
        <p:txBody>
          <a:bodyPr wrap="square" lIns="0" tIns="0" rIns="0" bIns="0" anchor="t">
            <a:spAutoFit/>
          </a:bodyPr>
          <a:lstStyle/>
          <a:p>
            <a:pPr algn="ctr"/>
            <a:r>
              <a:rPr sz="5400" b="1" i="0" u="none">
                <a:solidFill>
                  <a:srgbClr val="C5A059"/>
                </a:solidFill>
                <a:latin typeface="Playfair Display"/>
              </a:rPr>
              <a:t>WebGrow360</a:t>
            </a:r>
          </a:p>
        </p:txBody>
      </p:sp>
      <p:sp>
        <p:nvSpPr>
          <p:cNvPr id="4" name="TextBox 3"/>
          <p:cNvSpPr txBox="1"/>
          <p:nvPr/>
        </p:nvSpPr>
        <p:spPr>
          <a:xfrm>
            <a:off x="952500" y="3366194"/>
            <a:ext cx="6667500" cy="914400"/>
          </a:xfrm>
          <a:prstGeom prst="rect">
            <a:avLst/>
          </a:prstGeom>
          <a:noFill/>
        </p:spPr>
        <p:txBody>
          <a:bodyPr wrap="square" lIns="0" tIns="0" rIns="0" bIns="0" anchor="t">
            <a:spAutoFit/>
          </a:bodyPr>
          <a:lstStyle/>
          <a:p>
            <a:pPr algn="ctr">
              <a:lnSpc>
                <a:spcPts val="2400"/>
              </a:lnSpc>
            </a:pPr>
            <a:r>
              <a:rPr sz="1500" b="0" i="0" u="none">
                <a:solidFill>
                  <a:srgbClr val="12301C"/>
                </a:solidFill>
                <a:latin typeface="Lato Light"/>
              </a:rPr>
              <a:t>Bridging physical real estate with digital growth, WebGrow360 is the proud Strategic Growth Partner of MRITYIKA REALTERS OPC PRIVATE LIMITED, ensuring Shantiban City reaches the families who are looking to build their future.</a:t>
            </a:r>
          </a:p>
        </p:txBody>
      </p:sp>
      <p:sp>
        <p:nvSpPr>
          <p:cNvPr id="5" name="TextBox 4"/>
          <p:cNvSpPr txBox="1"/>
          <p:nvPr/>
        </p:nvSpPr>
        <p:spPr>
          <a:xfrm>
            <a:off x="3024187" y="4756844"/>
            <a:ext cx="2524125" cy="335160"/>
          </a:xfrm>
          <a:prstGeom prst="rect">
            <a:avLst/>
          </a:prstGeom>
          <a:noFill/>
        </p:spPr>
        <p:txBody>
          <a:bodyPr wrap="square" lIns="0" tIns="0" rIns="0" bIns="0" anchor="t">
            <a:spAutoFit/>
          </a:bodyPr>
          <a:lstStyle/>
          <a:p>
            <a:pPr algn="ctr">
              <a:lnSpc>
                <a:spcPts val="2640"/>
              </a:lnSpc>
            </a:pPr>
            <a:r>
              <a:rPr sz="1650" b="0" i="1" u="none">
                <a:solidFill>
                  <a:srgbClr val="555555"/>
                </a:solidFill>
                <a:latin typeface="Lato Light"/>
              </a:rPr>
              <a:t>Real Estate + Digital Growth</a:t>
            </a:r>
          </a:p>
        </p:txBody>
      </p:sp>
      <p:pic>
        <p:nvPicPr>
          <p:cNvPr id="9" name="Picture 8">
            <a:extLst>
              <a:ext uri="{FF2B5EF4-FFF2-40B4-BE49-F238E27FC236}">
                <a16:creationId xmlns:a16="http://schemas.microsoft.com/office/drawing/2014/main" id="{B97355CC-A6DD-0F64-88A4-CF3BF8C38BFE}"/>
              </a:ext>
            </a:extLst>
          </p:cNvPr>
          <p:cNvPicPr>
            <a:picLocks noChangeAspect="1"/>
          </p:cNvPicPr>
          <p:nvPr/>
        </p:nvPicPr>
        <p:blipFill>
          <a:blip r:embed="rId2"/>
          <a:stretch>
            <a:fillRect/>
          </a:stretch>
        </p:blipFill>
        <p:spPr>
          <a:xfrm>
            <a:off x="8001000" y="2445746"/>
            <a:ext cx="3791712" cy="304065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301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762250" y="1152673"/>
            <a:ext cx="6667500" cy="4552652"/>
          </a:xfrm>
          <a:prstGeom prst="rect">
            <a:avLst/>
          </a:prstGeom>
        </p:spPr>
      </p:pic>
      <p:sp>
        <p:nvSpPr>
          <p:cNvPr id="4" name="TextBox 3"/>
          <p:cNvSpPr txBox="1"/>
          <p:nvPr/>
        </p:nvSpPr>
        <p:spPr>
          <a:xfrm>
            <a:off x="3205638" y="1733698"/>
            <a:ext cx="5780722" cy="1279921"/>
          </a:xfrm>
          <a:prstGeom prst="rect">
            <a:avLst/>
          </a:prstGeom>
          <a:noFill/>
        </p:spPr>
        <p:txBody>
          <a:bodyPr wrap="square" lIns="0" tIns="0" rIns="0" bIns="0" anchor="t">
            <a:spAutoFit/>
          </a:bodyPr>
          <a:lstStyle/>
          <a:p>
            <a:pPr algn="ctr">
              <a:lnSpc>
                <a:spcPts val="5040"/>
              </a:lnSpc>
            </a:pPr>
            <a:r>
              <a:rPr sz="4200" b="0" i="0" u="none">
                <a:solidFill>
                  <a:srgbClr val="FDFBF7"/>
                </a:solidFill>
                <a:latin typeface="Playfair Display"/>
              </a:rPr>
              <a:t>Your piece of earth is waiting for your story.</a:t>
            </a:r>
          </a:p>
        </p:txBody>
      </p:sp>
      <p:sp>
        <p:nvSpPr>
          <p:cNvPr id="5" name="Rectangle 4"/>
          <p:cNvSpPr/>
          <p:nvPr/>
        </p:nvSpPr>
        <p:spPr>
          <a:xfrm>
            <a:off x="5619750" y="3299370"/>
            <a:ext cx="952500" cy="9525"/>
          </a:xfrm>
          <a:prstGeom prst="rect">
            <a:avLst/>
          </a:prstGeom>
          <a:solidFill>
            <a:srgbClr val="C5A0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75822" y="3689895"/>
            <a:ext cx="2840355" cy="409575"/>
          </a:xfrm>
          <a:prstGeom prst="rect">
            <a:avLst/>
          </a:prstGeom>
          <a:noFill/>
        </p:spPr>
        <p:txBody>
          <a:bodyPr wrap="square" lIns="0" tIns="0" rIns="0" bIns="0" anchor="t">
            <a:spAutoFit/>
          </a:bodyPr>
          <a:lstStyle/>
          <a:p>
            <a:pPr algn="ctr"/>
            <a:r>
              <a:rPr sz="2400" b="0" i="0" u="none">
                <a:solidFill>
                  <a:srgbClr val="C5A059"/>
                </a:solidFill>
                <a:latin typeface="Playfair Display"/>
              </a:rPr>
              <a:t>SHANTIBAN CITY</a:t>
            </a:r>
          </a:p>
        </p:txBody>
      </p:sp>
      <p:sp>
        <p:nvSpPr>
          <p:cNvPr id="7" name="TextBox 6"/>
          <p:cNvSpPr txBox="1"/>
          <p:nvPr/>
        </p:nvSpPr>
        <p:spPr>
          <a:xfrm>
            <a:off x="4181475" y="4242345"/>
            <a:ext cx="3829050" cy="304800"/>
          </a:xfrm>
          <a:prstGeom prst="rect">
            <a:avLst/>
          </a:prstGeom>
          <a:noFill/>
        </p:spPr>
        <p:txBody>
          <a:bodyPr wrap="square" lIns="0" tIns="0" rIns="0" bIns="0" anchor="t">
            <a:spAutoFit/>
          </a:bodyPr>
          <a:lstStyle/>
          <a:p>
            <a:pPr algn="ctr">
              <a:lnSpc>
                <a:spcPts val="2400"/>
              </a:lnSpc>
            </a:pPr>
            <a:r>
              <a:rPr sz="1500" b="0" i="0" u="none">
                <a:solidFill>
                  <a:srgbClr val="FDFBF7"/>
                </a:solidFill>
                <a:latin typeface="Lato Light"/>
              </a:rPr>
              <a:t>MRITYIKA REALTERS OPC PRIVATE LIMITED</a:t>
            </a:r>
          </a:p>
        </p:txBody>
      </p:sp>
      <p:sp>
        <p:nvSpPr>
          <p:cNvPr id="8" name="TextBox 7"/>
          <p:cNvSpPr txBox="1"/>
          <p:nvPr/>
        </p:nvSpPr>
        <p:spPr>
          <a:xfrm>
            <a:off x="4276725" y="4737645"/>
            <a:ext cx="3638550" cy="243780"/>
          </a:xfrm>
          <a:prstGeom prst="rect">
            <a:avLst/>
          </a:prstGeom>
          <a:noFill/>
        </p:spPr>
        <p:txBody>
          <a:bodyPr wrap="square" lIns="0" tIns="0" rIns="0" bIns="0" anchor="t">
            <a:spAutoFit/>
          </a:bodyPr>
          <a:lstStyle/>
          <a:p>
            <a:pPr algn="ctr">
              <a:lnSpc>
                <a:spcPts val="1920"/>
              </a:lnSpc>
            </a:pPr>
            <a:r>
              <a:rPr sz="1200" b="0" i="0" u="none">
                <a:solidFill>
                  <a:srgbClr val="FDFBF7"/>
                </a:solidFill>
                <a:latin typeface="Lato Light"/>
              </a:rPr>
              <a:t>Tapna, Baruipur, South 24 Parganas, West Bengal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878</Words>
  <Application>Microsoft Office PowerPoint</Application>
  <PresentationFormat>Widescreen</PresentationFormat>
  <Paragraphs>107</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Lato</vt:lpstr>
      <vt:lpstr>Lato Light</vt:lpstr>
      <vt:lpstr>Lato Medium</vt:lpstr>
      <vt:lpstr>Playfair Display</vt:lpstr>
      <vt:lpstr>Playfair Display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My Pc</dc:creator>
  <cp:keywords/>
  <dc:description>generated using python-pptx</dc:description>
  <cp:lastModifiedBy>Sayak Roy</cp:lastModifiedBy>
  <cp:revision>2</cp:revision>
  <dcterms:created xsi:type="dcterms:W3CDTF">2013-01-27T09:14:16Z</dcterms:created>
  <dcterms:modified xsi:type="dcterms:W3CDTF">2026-08-25T12:43:23Z</dcterms:modified>
  <cp:category/>
</cp:coreProperties>
</file>